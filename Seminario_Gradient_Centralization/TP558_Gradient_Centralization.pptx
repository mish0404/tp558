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83" r:id="rId2"/>
    <p:sldId id="416" r:id="rId3"/>
    <p:sldId id="417" r:id="rId4"/>
    <p:sldId id="415" r:id="rId5"/>
    <p:sldId id="418" r:id="rId6"/>
    <p:sldId id="419" r:id="rId7"/>
    <p:sldId id="420" r:id="rId8"/>
    <p:sldId id="421" r:id="rId9"/>
    <p:sldId id="423" r:id="rId10"/>
    <p:sldId id="422" r:id="rId11"/>
    <p:sldId id="424" r:id="rId12"/>
    <p:sldId id="425" r:id="rId13"/>
    <p:sldId id="405" r:id="rId14"/>
    <p:sldId id="406" r:id="rId15"/>
    <p:sldId id="446" r:id="rId16"/>
    <p:sldId id="408" r:id="rId17"/>
    <p:sldId id="399" r:id="rId18"/>
    <p:sldId id="430" r:id="rId19"/>
    <p:sldId id="431" r:id="rId20"/>
    <p:sldId id="432" r:id="rId21"/>
    <p:sldId id="433" r:id="rId22"/>
    <p:sldId id="434" r:id="rId23"/>
    <p:sldId id="445" r:id="rId24"/>
    <p:sldId id="412" r:id="rId25"/>
    <p:sldId id="435" r:id="rId26"/>
    <p:sldId id="436" r:id="rId27"/>
    <p:sldId id="449" r:id="rId28"/>
    <p:sldId id="437" r:id="rId29"/>
    <p:sldId id="444" r:id="rId30"/>
    <p:sldId id="438" r:id="rId31"/>
    <p:sldId id="443" r:id="rId32"/>
    <p:sldId id="312" r:id="rId33"/>
    <p:sldId id="450" r:id="rId34"/>
    <p:sldId id="458" r:id="rId35"/>
    <p:sldId id="451" r:id="rId36"/>
    <p:sldId id="459" r:id="rId37"/>
    <p:sldId id="453" r:id="rId38"/>
    <p:sldId id="456" r:id="rId39"/>
    <p:sldId id="461" r:id="rId40"/>
    <p:sldId id="454" r:id="rId41"/>
    <p:sldId id="455" r:id="rId42"/>
    <p:sldId id="460" r:id="rId43"/>
    <p:sldId id="439" r:id="rId44"/>
    <p:sldId id="442" r:id="rId45"/>
    <p:sldId id="440" r:id="rId46"/>
    <p:sldId id="441" r:id="rId47"/>
    <p:sldId id="293" r:id="rId48"/>
    <p:sldId id="314" r:id="rId49"/>
    <p:sldId id="328" r:id="rId50"/>
    <p:sldId id="306" r:id="rId51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FF5050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097" autoAdjust="0"/>
  </p:normalViewPr>
  <p:slideViewPr>
    <p:cSldViewPr snapToGrid="0">
      <p:cViewPr>
        <p:scale>
          <a:sx n="50" d="100"/>
          <a:sy n="50" d="100"/>
        </p:scale>
        <p:origin x="1862" y="39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23/10/2025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1F0A-FAFC-6DFC-6D91-F6D16EEF1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8251A8-63ED-454F-039C-43CEF9A72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09A6FD-E2E6-B340-248F-FAEFDEE73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3AECC3-133E-6133-22D4-AC1A442A9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999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AC5A-0D7F-FA9C-4645-757FAC6D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0AC047-9D61-9D9E-6B14-123A2E2DE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2C0344-D257-02AE-4BCD-A40341693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tremendo sucesso do aprendizado profundo se deve a vários fatores, incluindo grandes volumes de dados, arquiteturas de rede inovadoras e, principalmente, técnicas de otimização eficientes. </a:t>
            </a:r>
          </a:p>
          <a:p>
            <a:r>
              <a:rPr lang="pt-BR" dirty="0"/>
              <a:t>Acelere o treinamento: chegue a uma boa solução mais cedo. </a:t>
            </a:r>
          </a:p>
          <a:p>
            <a:r>
              <a:rPr lang="pt-BR" dirty="0"/>
              <a:t>Melhore a generalização: torne o modelo mais preciso com novos dados.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093F48-EE75-0E76-69E4-E74C05D42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568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F5446-B09A-8630-F752-BA56036B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B51C89-DC37-BC32-4936-5BCC32A50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75B13E-12E2-D579-37A9-A03A32E38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Queremos que o modelo aprenda a pensar e generalizar, não apenas memorizar, os dados com os quais foi treinado. Para enfrentar esse desafio, a comunidade de IA desenvolveu ferramentas poderosas. Duas das mais famosas são a normalização em lote e a padronização de pesos. Elas têm sido os pilares do treinamento por anos, mas Essas têm limitações. A normalização em lote, ou BN, que funciona com ativações, precisa ver muitos dados de uma só vez para funcionar bem, e isso nem sempre é possível. Por outro lado, a padronização de pesos, que se concentra em pesos, nos impede aproveitar modelos já treinados, forçando-nos a começar do zero a cada vez.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3B78DF-029F-2996-3DAB-299E5AE6E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42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2441-A90E-2CB5-B6C8-9ED942F9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BA28E9-25AB-D1DF-6562-4AF126953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90C934-9753-70CD-B6F0-2FBBA5DF7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Mas esses não são os únicos desafios.</a:t>
            </a:r>
            <a:br>
              <a:rPr lang="pt-BR" dirty="0"/>
            </a:br>
            <a:r>
              <a:rPr lang="pt-BR" dirty="0"/>
              <a:t>1. Podemos experimentar explosão ou desaparecimento de gradiente durante o treinamento.</a:t>
            </a:r>
          </a:p>
          <a:p>
            <a:r>
              <a:rPr lang="pt-BR" dirty="0"/>
              <a:t>2. As superfícies de perda podem ser irregulares, dificultando a otimização.</a:t>
            </a:r>
          </a:p>
          <a:p>
            <a:r>
              <a:rPr lang="pt-BR" dirty="0"/>
              <a:t>3. Desempenho instável é frequentemente observado ao usar pequenos lotes de dados.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3FE4EA-B72E-019F-9F37-14F34A468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865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9B4C-3C31-F577-DC3B-889721EF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617CC5E-2608-4665-CEB2-C4D8018B6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154428-3126-9CED-093F-1B401CC0D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Nesse contexto, a Centralização de Gradientes (CG) surge como uma nova técnica de otimização que atua diretamente sobre gradientes. A ideia central é simples, mas poderosa: "Centralizar os gradientes para que tenham média zero antes de atualizar os pesos". 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DF3DB6-2B0F-91DD-D55A-67A288CCC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45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1058-9C94-1FE2-836C-E5B54CBA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489840-73A8-261E-D6CA-2A89031A6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39E08A-D6CC-6EC4-0222-F4ECFE222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isso proporciona?</a:t>
            </a:r>
          </a:p>
          <a:p>
            <a:r>
              <a:rPr lang="pt-BR" dirty="0"/>
              <a:t>Primeiro, suaviza o cenário de otimização — ou seja, a função de perda se torna mais estável e previsível.</a:t>
            </a:r>
          </a:p>
          <a:p>
            <a:r>
              <a:rPr lang="pt-BR" dirty="0"/>
              <a:t>Segundo, acelera a convergência, à medida que os gradientes se tornam mais consistentes.</a:t>
            </a:r>
          </a:p>
          <a:p>
            <a:r>
              <a:rPr lang="pt-BR" dirty="0"/>
              <a:t>E terceiro, melhora as capacidades de generalização do modelo.</a:t>
            </a:r>
          </a:p>
          <a:p>
            <a:r>
              <a:rPr lang="pt-BR" dirty="0"/>
              <a:t>Tudo isso atuando diretamente nos gradientes, sem afetar a arquitetura ou os </a:t>
            </a:r>
            <a:r>
              <a:rPr lang="pt-BR" dirty="0" err="1"/>
              <a:t>hiperparâmetros</a:t>
            </a:r>
            <a:r>
              <a:rPr lang="pt-BR" dirty="0"/>
              <a:t> do modelo.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A81537-BE0F-DD17-82A4-BCFF6DF4E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57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999B-7417-E107-5B1E-3F3F418B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B7E35B-3D8E-17BE-5502-92BE90E2F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28F0C3-4B50-29C2-2856-1E4696C76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objetivo geral da Centralização de Gradientes é regularizar o espaço dos pesos e das características de saída do modelo.</a:t>
            </a:r>
          </a:p>
          <a:p>
            <a:r>
              <a:rPr lang="pt-BR" dirty="0"/>
              <a:t>Com isso, o aprendizado se torna mais estável, rápido e com melhor generalização.</a:t>
            </a:r>
          </a:p>
          <a:p>
            <a:r>
              <a:rPr lang="pt-BR" dirty="0"/>
              <a:t>Em resumo, a GC busca centralizar o processo de aprendizado em uma região mais suave e controlada do espaço de parâmetros, sem exigir modificações na arquitetura da rede ou a adição de novos </a:t>
            </a:r>
            <a:r>
              <a:rPr lang="pt-BR" dirty="0" err="1"/>
              <a:t>hiperparâmetros</a:t>
            </a:r>
            <a:r>
              <a:rPr lang="pt-BR" dirty="0"/>
              <a:t>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BF833A-2453-9F7F-B3CE-FD9C4CD4C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779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B991-E066-CA5B-CDCC-C8794A91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FA8CFB-C703-556B-5B9E-E0C95D571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21D934-DCE1-BEE0-B9BE-CD54616B2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Centralização de Gradientes é uma técnica de otimização que atua diretamente sobre os gradientes durante o treinamento.</a:t>
            </a:r>
          </a:p>
          <a:p>
            <a:r>
              <a:rPr lang="pt-BR" dirty="0"/>
              <a:t>Em vez de normalizar pesos ou ativações, a GC modifica o gradiente antes de atualizar os pesos, removendo sua média.</a:t>
            </a:r>
          </a:p>
          <a:p>
            <a:r>
              <a:rPr lang="pt-BR" dirty="0"/>
              <a:t>Em termos simples: antes da atualização, o gradiente é "centralizado" para que tenha uma média zero.</a:t>
            </a:r>
          </a:p>
          <a:p>
            <a:r>
              <a:rPr lang="pt-BR" dirty="0"/>
              <a:t>Isso torna as atualizações mais balanceadas e o treinamento mais estável.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424B30-8947-35B4-6DAA-06334341B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965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D177-5887-4D08-A1FB-104BCA47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1B5C48-0C81-0E22-5BD4-5D3B1FF20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CBFE64-0755-08EF-C3AF-F29FFD481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Durante cada iteração de treinamento, o otimizador calcula o gradiente do erro em relação aos pesos.</a:t>
            </a:r>
          </a:p>
          <a:p>
            <a:r>
              <a:rPr lang="pt-BR" dirty="0"/>
              <a:t>Esse gradiente indica o quanto e em qual direção os pesos devem ser ajustados.</a:t>
            </a:r>
          </a:p>
          <a:p>
            <a:endParaRPr lang="pt-BR" dirty="0"/>
          </a:p>
          <a:p>
            <a:r>
              <a:rPr lang="pt-BR" dirty="0"/>
              <a:t>A GC atua imediatamente antes de usar esse gradiente: sua média é removida,</a:t>
            </a:r>
          </a:p>
          <a:p>
            <a:r>
              <a:rPr lang="pt-BR" dirty="0"/>
              <a:t>produzindo um gradiente mais equilibrado.</a:t>
            </a:r>
          </a:p>
          <a:p>
            <a:endParaRPr lang="pt-BR" dirty="0"/>
          </a:p>
          <a:p>
            <a:r>
              <a:rPr lang="pt-BR" dirty="0"/>
              <a:t>Assim, as atualizações de peso são mais estáveis, evitando etapas abruptas ou inconsistentes.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F4D2ED-708A-2203-AEA9-D9BE64BC6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807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2248-214E-BBC6-834F-66316EF7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A6C0F2-1F6F-9266-1C30-848C81718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BDA45F-FAE1-88AC-6361-BB88BCF5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denotarmos o gradiente da perda em relação aos pesos como ∇</a:t>
            </a:r>
            <a:r>
              <a:rPr lang="pt-BR" dirty="0" err="1"/>
              <a:t>wL</a:t>
            </a:r>
            <a:r>
              <a:rPr lang="pt-BR" dirty="0"/>
              <a:t>,</a:t>
            </a:r>
          </a:p>
          <a:p>
            <a:r>
              <a:rPr lang="pt-BR" dirty="0"/>
              <a:t>o operador GC é definido como:</a:t>
            </a:r>
          </a:p>
          <a:p>
            <a:endParaRPr lang="pt-BR" dirty="0"/>
          </a:p>
          <a:p>
            <a:r>
              <a:rPr lang="pt-BR" dirty="0" err="1"/>
              <a:t>ΦGC</a:t>
            </a:r>
            <a:r>
              <a:rPr lang="pt-BR" dirty="0"/>
              <a:t>(∇</a:t>
            </a:r>
            <a:r>
              <a:rPr lang="pt-BR" dirty="0" err="1"/>
              <a:t>wL</a:t>
            </a:r>
            <a:r>
              <a:rPr lang="pt-BR" dirty="0"/>
              <a:t>) = ∇</a:t>
            </a:r>
            <a:r>
              <a:rPr lang="pt-BR" dirty="0" err="1"/>
              <a:t>wL</a:t>
            </a:r>
            <a:r>
              <a:rPr lang="pt-BR" dirty="0"/>
              <a:t> − </a:t>
            </a:r>
            <a:r>
              <a:rPr lang="pt-BR" dirty="0" err="1"/>
              <a:t>μ∇wL</a:t>
            </a:r>
            <a:r>
              <a:rPr lang="pt-BR" dirty="0"/>
              <a:t>,</a:t>
            </a:r>
          </a:p>
          <a:p>
            <a:endParaRPr lang="pt-BR" dirty="0"/>
          </a:p>
          <a:p>
            <a:r>
              <a:rPr lang="pt-BR" dirty="0"/>
              <a:t>onde </a:t>
            </a:r>
            <a:r>
              <a:rPr lang="pt-BR" dirty="0" err="1"/>
              <a:t>μ∇wL</a:t>
            </a:r>
            <a:r>
              <a:rPr lang="pt-BR" dirty="0"/>
              <a:t> é a média do gradiente.</a:t>
            </a:r>
          </a:p>
          <a:p>
            <a:endParaRPr lang="pt-BR" dirty="0"/>
          </a:p>
          <a:p>
            <a:r>
              <a:rPr lang="pt-BR" dirty="0"/>
              <a:t>O resultado é um novo gradiente centralizado com média zero,</a:t>
            </a:r>
          </a:p>
          <a:p>
            <a:r>
              <a:rPr lang="pt-BR" dirty="0"/>
              <a:t>que reduz a redundância direcional e equilibra as atualizações de peso.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DFD4B5-4274-053C-F9D6-4EC5D304E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39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C6F7-8D84-26A4-C364-92FA4A67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7C7AC5-A01D-E8F3-C19D-FC4D30B10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AF693600-4EDE-B478-2197-AEDECDF15A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Suponha que temos três pesos e o gradiente calculado em uma iteração é [2, 4, 6].</a:t>
                </a:r>
              </a:p>
              <a:p>
                <a:endParaRPr lang="pt-BR" dirty="0"/>
              </a:p>
              <a:p>
                <a:r>
                  <a:rPr lang="pt-BR" dirty="0"/>
                  <a:t>A média é 4, então o gradiente centralizado seria [2−4, 4−4, 6−4] = [−2, 0, 2].</a:t>
                </a:r>
              </a:p>
              <a:p>
                <a:endParaRPr lang="pt-BR" dirty="0"/>
              </a:p>
              <a:p>
                <a:r>
                  <a:rPr lang="pt-BR" dirty="0"/>
                  <a:t>Agora a média é zero e as atualizações são balanceadas:</a:t>
                </a:r>
              </a:p>
              <a:p>
                <a:r>
                  <a:rPr lang="pt-BR" dirty="0"/>
                  <a:t>um peso aumenta, outro diminui e outro permanece o mesmo.</a:t>
                </a:r>
                <a:endParaRPr lang="es-BO" dirty="0"/>
              </a:p>
              <a:p>
                <a:endParaRPr lang="es-BO" dirty="0"/>
              </a:p>
            </p:txBody>
          </p:sp>
        </mc:Choice>
        <mc:Fallback xmlns="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AF693600-4EDE-B478-2197-AEDECDF15A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BO" i="0">
                    <a:latin typeface="Cambria Math" panose="02040503050406030204" pitchFamily="18" charset="0"/>
                  </a:rPr>
                  <a:t>𝑔=</a:t>
                </a:r>
                <a:r>
                  <a:rPr lang="es-MX" b="0" i="0">
                    <a:latin typeface="Cambria Math" panose="02040503050406030204" pitchFamily="18" charset="0"/>
                  </a:rPr>
                  <a:t>[2,4,6]</a:t>
                </a:r>
                <a:endParaRPr lang="ar-AE" dirty="0"/>
              </a:p>
              <a:p>
                <a:r>
                  <a:rPr lang="es-BO" dirty="0"/>
                  <a:t>El promedio de los gradientes es:    </a:t>
                </a:r>
                <a:r>
                  <a:rPr lang="es-BO" i="0">
                    <a:latin typeface="Cambria Math" panose="02040503050406030204" pitchFamily="18" charset="0"/>
                  </a:rPr>
                  <a:t>"media</a:t>
                </a:r>
                <a:r>
                  <a:rPr lang="ar-AE" i="0">
                    <a:latin typeface="Cambria Math" panose="02040503050406030204" pitchFamily="18" charset="0"/>
                  </a:rPr>
                  <a:t>" (𝑔)=(2+4+6)/3=4</a:t>
                </a:r>
                <a:endParaRPr lang="es-BO" dirty="0"/>
              </a:p>
              <a:p>
                <a:r>
                  <a:rPr lang="es-BO" dirty="0"/>
                  <a:t>Entonces aplicamos </a:t>
                </a:r>
                <a:r>
                  <a:rPr lang="es-BO" b="1" dirty="0"/>
                  <a:t>centralización</a:t>
                </a:r>
                <a:r>
                  <a:rPr lang="es-BO" dirty="0"/>
                  <a:t>: </a:t>
                </a:r>
                <a:r>
                  <a:rPr lang="ar-AE" i="0">
                    <a:latin typeface="Cambria Math" panose="02040503050406030204" pitchFamily="18" charset="0"/>
                  </a:rPr>
                  <a:t>𝑔 ̂=𝑔−4=</a:t>
                </a:r>
                <a:r>
                  <a:rPr lang="es-MX" b="0" i="0">
                    <a:latin typeface="Cambria Math" panose="02040503050406030204" pitchFamily="18" charset="0"/>
                  </a:rPr>
                  <a:t>[2−4,4−4,6−4]</a:t>
                </a:r>
                <a:r>
                  <a:rPr lang="ar-AE" i="0">
                    <a:latin typeface="Cambria Math" panose="02040503050406030204" pitchFamily="18" charset="0"/>
                  </a:rPr>
                  <a:t>=</a:t>
                </a:r>
                <a:r>
                  <a:rPr lang="es-MX" b="0" i="0">
                    <a:latin typeface="Cambria Math" panose="02040503050406030204" pitchFamily="18" charset="0"/>
                  </a:rPr>
                  <a:t>[−2,0,2]</a:t>
                </a:r>
                <a:endParaRPr lang="ar-AE" dirty="0"/>
              </a:p>
              <a:p>
                <a:endParaRPr lang="es-BO" dirty="0"/>
              </a:p>
              <a:p>
                <a:r>
                  <a:rPr lang="es-BO" dirty="0"/>
                  <a:t>Esto significa que las actualizaciones serán más equilibradas:</a:t>
                </a:r>
              </a:p>
              <a:p>
                <a:r>
                  <a:rPr lang="es-BO" dirty="0"/>
                  <a:t>Un peso sube (+2),</a:t>
                </a:r>
              </a:p>
              <a:p>
                <a:r>
                  <a:rPr lang="es-BO" dirty="0"/>
                  <a:t>otro baja (-2),</a:t>
                </a:r>
              </a:p>
              <a:p>
                <a:r>
                  <a:rPr lang="es-BO" dirty="0"/>
                  <a:t>otro no cambia (0),</a:t>
                </a:r>
                <a:br>
                  <a:rPr lang="es-BO" dirty="0"/>
                </a:br>
                <a:r>
                  <a:rPr lang="es-BO" dirty="0"/>
                  <a:t>manteniendo el sistema “centrado”.</a:t>
                </a:r>
              </a:p>
              <a:p>
                <a:endParaRPr lang="es-B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E0AA47-994B-2527-6900-B78B69419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806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5AEA-F97C-FCBB-8A90-E7656A33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38E421-17B7-1219-C4D0-8F7610F94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6FF2A4-222D-246E-FE80-92E84C847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uma camada totalmente conectada ou convolucional, os gradientes podem ser representados como matrizes.</a:t>
            </a:r>
          </a:p>
          <a:p>
            <a:endParaRPr lang="pt-BR" dirty="0"/>
          </a:p>
          <a:p>
            <a:r>
              <a:rPr lang="pt-BR" dirty="0"/>
              <a:t>A operação de CG é expressa como:</a:t>
            </a:r>
          </a:p>
          <a:p>
            <a:endParaRPr lang="pt-BR" dirty="0"/>
          </a:p>
          <a:p>
            <a:r>
              <a:rPr lang="pt-BR" dirty="0" err="1"/>
              <a:t>ΦGC</a:t>
            </a:r>
            <a:r>
              <a:rPr lang="pt-BR" dirty="0"/>
              <a:t>(∇</a:t>
            </a:r>
            <a:r>
              <a:rPr lang="pt-BR" dirty="0" err="1"/>
              <a:t>WL</a:t>
            </a:r>
            <a:r>
              <a:rPr lang="pt-BR" dirty="0"/>
              <a:t>) = </a:t>
            </a:r>
            <a:r>
              <a:rPr lang="pt-BR" dirty="0" err="1"/>
              <a:t>P∇WL</a:t>
            </a:r>
            <a:r>
              <a:rPr lang="pt-BR" dirty="0"/>
              <a:t>, com P = I − </a:t>
            </a:r>
            <a:r>
              <a:rPr lang="pt-BR" dirty="0" err="1"/>
              <a:t>ee</a:t>
            </a:r>
            <a:r>
              <a:rPr lang="pt-BR" dirty="0"/>
              <a:t>ᵀ.</a:t>
            </a:r>
          </a:p>
          <a:p>
            <a:endParaRPr lang="pt-BR" dirty="0"/>
          </a:p>
          <a:p>
            <a:r>
              <a:rPr lang="pt-BR" dirty="0"/>
              <a:t>Aqui, P atua como uma matriz de projeção que remove a componente média do gradiente.</a:t>
            </a:r>
          </a:p>
          <a:p>
            <a:endParaRPr lang="pt-BR" dirty="0"/>
          </a:p>
          <a:p>
            <a:r>
              <a:rPr lang="pt-BR" dirty="0"/>
              <a:t>Em outras palavras, a CG projeta o gradiente em um hiperplano onde a soma de suas componentes é zero.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335456-D56F-7BAB-A61A-11E11796B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103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7C66-81E4-1C6D-B7A8-E0D60349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5B928E-6156-3360-2F45-0E334C9C7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08F4EA-7A53-67C0-1317-CC587380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 b="1" dirty="0"/>
              <a:t>Qué pasa si el gradiente es una matriz (como en una capa densa o convolucional)</a:t>
            </a:r>
          </a:p>
          <a:p>
            <a:r>
              <a:rPr lang="es-BO" dirty="0"/>
              <a:t>En redes neuronales, los gradientes suelen ser </a:t>
            </a:r>
            <a:r>
              <a:rPr lang="es-BO" b="1" dirty="0"/>
              <a:t>matrices</a:t>
            </a:r>
            <a:r>
              <a:rPr lang="es-BO" dirty="0"/>
              <a:t> (una fila por entrada, una columna por salida).</a:t>
            </a:r>
          </a:p>
          <a:p>
            <a:br>
              <a:rPr lang="es-BO" dirty="0"/>
            </a:br>
            <a:r>
              <a:rPr lang="pt-BR" dirty="0"/>
              <a:t>Em redes reais, os gradientes de peso são geralmente organizados como matrizes.</a:t>
            </a:r>
          </a:p>
          <a:p>
            <a:endParaRPr lang="pt-BR" dirty="0"/>
          </a:p>
          <a:p>
            <a:r>
              <a:rPr lang="pt-BR" dirty="0"/>
              <a:t>Por exemplo, se uma camada tiver 2 neurônios de entrada e 3 neurônios de saída,</a:t>
            </a:r>
          </a:p>
          <a:p>
            <a:r>
              <a:rPr lang="pt-BR" dirty="0"/>
              <a:t>o gradiente pode ser assim:</a:t>
            </a:r>
          </a:p>
          <a:p>
            <a:r>
              <a:rPr lang="pt-BR" dirty="0"/>
              <a:t>∇</a:t>
            </a:r>
            <a:r>
              <a:rPr lang="pt-BR" dirty="0" err="1"/>
              <a:t>WL</a:t>
            </a:r>
            <a:r>
              <a:rPr lang="pt-BR" dirty="0"/>
              <a:t>=</a:t>
            </a:r>
            <a:br>
              <a:rPr lang="pt-BR" dirty="0"/>
            </a:br>
            <a:r>
              <a:rPr lang="pt-BR" dirty="0"/>
              <a:t>[135</a:t>
            </a:r>
          </a:p>
          <a:p>
            <a:r>
              <a:rPr lang="pt-BR" dirty="0"/>
              <a:t>246]</a:t>
            </a:r>
          </a:p>
          <a:p>
            <a:endParaRPr lang="pt-BR" dirty="0"/>
          </a:p>
          <a:p>
            <a:r>
              <a:rPr lang="pt-BR" dirty="0"/>
              <a:t>Cada coluna representa os gradientes associados a um neurônio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A598D0-BCF1-BAC7-8E94-AF0FA9A1D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208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7670-351F-7C6F-89EE-303AB87C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314CA6-CBF3-4DF5-AD67-EE7004FD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A601F6-1366-EA88-AF49-800F53248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Tras aplicar </a:t>
            </a:r>
            <a:r>
              <a:rPr lang="es-MX" i="1" dirty="0" err="1"/>
              <a:t>Gradient</a:t>
            </a:r>
            <a:r>
              <a:rPr lang="es-MX" i="1" dirty="0"/>
              <a:t> </a:t>
            </a:r>
            <a:r>
              <a:rPr lang="es-MX" i="1" dirty="0" err="1"/>
              <a:t>Centralization</a:t>
            </a:r>
            <a:r>
              <a:rPr lang="es-MX" dirty="0"/>
              <a:t>, </a:t>
            </a:r>
            <a:r>
              <a:rPr lang="es-MX" b="1" dirty="0"/>
              <a:t>cada columna tiene media cero</a:t>
            </a:r>
            <a:r>
              <a:rPr lang="es-MX" dirty="0"/>
              <a:t>, lo que garantiza que las actualizaciones sean </a:t>
            </a:r>
            <a:r>
              <a:rPr lang="es-MX" b="1" dirty="0"/>
              <a:t>balanceadas para cada neurona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En otras palabras, </a:t>
            </a:r>
            <a:r>
              <a:rPr lang="es-MX" dirty="0" err="1"/>
              <a:t>GC</a:t>
            </a:r>
            <a:r>
              <a:rPr lang="es-MX" dirty="0"/>
              <a:t> </a:t>
            </a:r>
            <a:r>
              <a:rPr lang="es-MX" b="1" dirty="0"/>
              <a:t>centraliza cada vector de gradiente columna por columna</a:t>
            </a:r>
            <a:r>
              <a:rPr lang="es-MX" dirty="0"/>
              <a:t>, eliminando el sesgo medio y logrando que las actualizaciones sean más estables y equitativas.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pt-BR" dirty="0"/>
              <a:t>Para aplicar a GC, primeiro calculamos a média de cada coluna.</a:t>
            </a:r>
          </a:p>
          <a:p>
            <a:r>
              <a:rPr lang="pt-BR" dirty="0"/>
              <a:t>Por exemplo:</a:t>
            </a:r>
          </a:p>
          <a:p>
            <a:endParaRPr lang="pt-BR" dirty="0"/>
          </a:p>
          <a:p>
            <a:r>
              <a:rPr lang="pt-BR" dirty="0"/>
              <a:t>Coluna 1: (1 + 2)/2 = 1,5</a:t>
            </a:r>
          </a:p>
          <a:p>
            <a:endParaRPr lang="pt-BR" dirty="0"/>
          </a:p>
          <a:p>
            <a:r>
              <a:rPr lang="pt-BR" dirty="0"/>
              <a:t>Coluna 2: (3 + 4)/2 = 3,5</a:t>
            </a:r>
          </a:p>
          <a:p>
            <a:endParaRPr lang="pt-BR" dirty="0"/>
          </a:p>
          <a:p>
            <a:r>
              <a:rPr lang="pt-BR" dirty="0"/>
              <a:t>Coluna 3: (5 + 6)/2 = 5,5</a:t>
            </a:r>
          </a:p>
          <a:p>
            <a:endParaRPr lang="pt-BR" dirty="0"/>
          </a:p>
          <a:p>
            <a:r>
              <a:rPr lang="pt-BR" dirty="0"/>
              <a:t>Em seguida, subtraímos estas médias:</a:t>
            </a:r>
          </a:p>
          <a:p>
            <a:r>
              <a:rPr lang="pt-BR" dirty="0" err="1"/>
              <a:t>ΦGC</a:t>
            </a:r>
            <a:r>
              <a:rPr lang="pt-BR" dirty="0"/>
              <a:t>(∇</a:t>
            </a:r>
            <a:r>
              <a:rPr lang="pt-BR" dirty="0" err="1"/>
              <a:t>WL</a:t>
            </a:r>
            <a:r>
              <a:rPr lang="pt-BR" dirty="0"/>
              <a:t>)=[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−0,5−0,5−0,5</a:t>
            </a:r>
          </a:p>
          <a:p>
            <a:r>
              <a:rPr lang="pt-BR" dirty="0"/>
              <a:t>+0,5+0,5+0,5]</a:t>
            </a:r>
          </a:p>
          <a:p>
            <a:endParaRPr lang="pt-BR" dirty="0"/>
          </a:p>
          <a:p>
            <a:r>
              <a:rPr lang="pt-BR" dirty="0"/>
              <a:t>Agora, cada coluna tem uma média zero.</a:t>
            </a:r>
          </a:p>
          <a:p>
            <a:r>
              <a:rPr lang="pt-BR" dirty="0"/>
              <a:t>O GC faz isso automaticamente em cada iteração.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EEF2A6-DFF2-03B9-3313-F3D016FA8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315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B37E-2C33-0630-51BB-513474D0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DA1AED-83E7-4D73-EF01-FE5A05D7D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53083354-9312-6323-7DE2-C145D2E3C0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De uma perspectiva geométrica, o gradiente centralizado pode ser visto como uma projeção do gradiente original em um subespaço.</a:t>
                </a:r>
              </a:p>
              <a:p>
                <a:endParaRPr lang="pt-BR" dirty="0"/>
              </a:p>
              <a:p>
                <a:r>
                  <a:rPr lang="pt-BR" dirty="0"/>
                  <a:t>Ou seja, em vez de se mover em qualquer direção no espaço de parâmetros,</a:t>
                </a:r>
              </a:p>
              <a:p>
                <a:r>
                  <a:rPr lang="pt-BR" dirty="0"/>
                  <a:t>a atualização ocorre dentro de um hiperplano onde as mudanças são balanceadas.</a:t>
                </a:r>
              </a:p>
              <a:p>
                <a:endParaRPr lang="pt-BR" dirty="0"/>
              </a:p>
              <a:p>
                <a:r>
                  <a:rPr lang="pt-BR" dirty="0"/>
                  <a:t>Isso impõe uma restrição natural que melhora a estabilidade do treinamento.</a:t>
                </a:r>
                <a:endParaRPr lang="es-BO" dirty="0"/>
              </a:p>
            </p:txBody>
          </p:sp>
        </mc:Choice>
        <mc:Fallback xmlns="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53083354-9312-6323-7DE2-C145D2E3C0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BO" dirty="0"/>
                  <a:t>Desde el punto de vista geométrico, el gradiente centralizado</a:t>
                </a:r>
              </a:p>
              <a:p>
                <a:pPr marL="0" indent="0">
                  <a:buNone/>
                </a:pPr>
                <a:r>
                  <a:rPr lang="el-GR" i="0">
                    <a:latin typeface="Cambria Math" panose="02040503050406030204" pitchFamily="18" charset="0"/>
                  </a:rPr>
                  <a:t>Φ</a:t>
                </a:r>
                <a:r>
                  <a:rPr lang="ar-AE" i="0">
                    <a:latin typeface="Cambria Math" panose="02040503050406030204" pitchFamily="18" charset="0"/>
                  </a:rPr>
                  <a:t>_𝐺𝐶 (∇_𝑊 𝐿)</a:t>
                </a:r>
                <a:endParaRPr lang="es-BO" dirty="0"/>
              </a:p>
              <a:p>
                <a:pPr marL="0" indent="0">
                  <a:buNone/>
                </a:pPr>
                <a:r>
                  <a:rPr lang="es-BO" dirty="0"/>
                  <a:t>es una </a:t>
                </a:r>
                <a:r>
                  <a:rPr lang="es-BO" b="1" dirty="0"/>
                  <a:t>versión proyectada del gradiente original</a:t>
                </a:r>
                <a:r>
                  <a:rPr lang="es-BO" dirty="0"/>
                  <a:t>, confinada a un subespacio.</a:t>
                </a:r>
              </a:p>
              <a:p>
                <a:r>
                  <a:rPr lang="es-MX" dirty="0"/>
                  <a:t>En otras palabras, </a:t>
                </a:r>
                <a:r>
                  <a:rPr lang="es-MX" i="1" dirty="0" err="1"/>
                  <a:t>Gradient</a:t>
                </a:r>
                <a:r>
                  <a:rPr lang="es-MX" i="1" dirty="0"/>
                  <a:t> </a:t>
                </a:r>
                <a:r>
                  <a:rPr lang="es-MX" i="1" dirty="0" err="1"/>
                  <a:t>Centralization</a:t>
                </a:r>
                <a:r>
                  <a:rPr lang="es-MX" dirty="0"/>
                  <a:t> elimina la componente promedio del gradiente, confinando la actualización de los pesos a un </a:t>
                </a:r>
                <a:r>
                  <a:rPr lang="es-MX" b="1" dirty="0"/>
                  <a:t>hiperplano</a:t>
                </a:r>
                <a:r>
                  <a:rPr lang="es-MX" dirty="0"/>
                  <a:t> donde la suma de las componentes del gradiente es igual a cero.</a:t>
                </a:r>
              </a:p>
              <a:p>
                <a:r>
                  <a:rPr lang="es-MX" dirty="0"/>
                  <a:t>Este proceso impone una </a:t>
                </a:r>
                <a:r>
                  <a:rPr lang="es-MX" b="1" dirty="0"/>
                  <a:t>restricción de equilibrio</a:t>
                </a:r>
                <a:r>
                  <a:rPr lang="es-MX" dirty="0"/>
                  <a:t> en las actualizaciones de los parámetros: en lugar de moverse libremente en todo el espacio de pesos, el modelo se optimiza dentro de una región limitada, manteniendo el sistema centrado.</a:t>
                </a:r>
                <a:endParaRPr lang="es-B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FE0D18-79E5-2FFE-9EC3-5C3D48C33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483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78D8-22AC-A3D0-A5B9-012FBA3E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4A644B-B51A-1053-53F2-E1F59EA94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CE546C35-B86A-E124-15E5-9A5D6876BF3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MX" dirty="0"/>
                  <a:t>Esta restricción implica que las actualizaciones se realizan </a:t>
                </a:r>
                <a:r>
                  <a:rPr lang="es-MX" b="1" dirty="0"/>
                  <a:t>dentro de un hiperplano definido por la media inicial de los pesos</a:t>
                </a:r>
                <a:r>
                  <a:rPr lang="es-MX" dirty="0"/>
                  <a:t>, lo que limita el rango de variación de </a:t>
                </a:r>
                <a14:m>
                  <m:oMath xmlns:m="http://schemas.openxmlformats.org/officeDocument/2006/math">
                    <m:r>
                      <a:rPr lang="es-MX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s-MX" dirty="0"/>
                  <a:t>y contribuye a una </a:t>
                </a:r>
                <a:r>
                  <a:rPr lang="es-MX" b="1" dirty="0"/>
                  <a:t>mayor estabilidad y regularización</a:t>
                </a:r>
                <a:r>
                  <a:rPr lang="es-MX" dirty="0"/>
                  <a:t> durante el entrenamiento.</a:t>
                </a:r>
                <a:br>
                  <a:rPr lang="es-MX" dirty="0"/>
                </a:br>
                <a:br>
                  <a:rPr lang="es-MX" dirty="0"/>
                </a:br>
                <a:r>
                  <a:rPr lang="pt-BR" dirty="0"/>
                  <a:t>Matematicamente, esse comportamento é equivalente à resolução de um problema de otimização com restrições:</a:t>
                </a:r>
              </a:p>
              <a:p>
                <a:endParaRPr lang="pt-BR" dirty="0"/>
              </a:p>
              <a:p>
                <a:r>
                  <a:rPr lang="pt-BR" dirty="0"/>
                  <a:t>min L(W), sujeito a eᵀ(W − W₀) = 0.</a:t>
                </a:r>
              </a:p>
              <a:p>
                <a:endParaRPr lang="pt-BR" dirty="0"/>
              </a:p>
              <a:p>
                <a:r>
                  <a:rPr lang="pt-BR" dirty="0"/>
                  <a:t>Isso significa que as atualizações mantêm a média dos pesos iniciais constante.</a:t>
                </a:r>
              </a:p>
              <a:p>
                <a:endParaRPr lang="pt-BR" dirty="0"/>
              </a:p>
              <a:p>
                <a:r>
                  <a:rPr lang="pt-BR" dirty="0"/>
                  <a:t>Assim, o treinamento permanece centrado em uma região mais controlada do espaço de parâmetros.</a:t>
                </a:r>
                <a:endParaRPr lang="es-BO" dirty="0"/>
              </a:p>
            </p:txBody>
          </p:sp>
        </mc:Choice>
        <mc:Fallback xmlns="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CE546C35-B86A-E124-15E5-9A5D6876BF3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MX" dirty="0"/>
                  <a:t>Esta restricción implica que las actualizaciones se realizan </a:t>
                </a:r>
                <a:r>
                  <a:rPr lang="es-MX" b="1" dirty="0"/>
                  <a:t>dentro de un hiperplano definido por la media inicial de los pesos</a:t>
                </a:r>
                <a:r>
                  <a:rPr lang="es-MX" dirty="0"/>
                  <a:t>, lo que limita el rango de variación de </a:t>
                </a:r>
                <a:r>
                  <a:rPr lang="es-MX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es-MX" dirty="0"/>
                  <a:t>y contribuye a una </a:t>
                </a:r>
                <a:r>
                  <a:rPr lang="es-MX" b="1" dirty="0"/>
                  <a:t>mayor estabilidad y regularización</a:t>
                </a:r>
                <a:r>
                  <a:rPr lang="es-MX" dirty="0"/>
                  <a:t> durante el entrenamiento.</a:t>
                </a:r>
                <a:endParaRPr lang="es-B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AEA468-4CB4-3926-AF63-1AE29D413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799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F1E15-D176-BCBB-F602-14823F84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34EB62-A138-EB89-A8D2-44D834697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81A3C489-0C74-7724-5E6F-FF47088C9A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MX" dirty="0"/>
                  <a:t>Esta figura ilustra justamente ese proceso:</a:t>
                </a:r>
                <a:br>
                  <a:rPr lang="es-MX" dirty="0"/>
                </a:br>
                <a:r>
                  <a:rPr lang="es-MX" dirty="0"/>
                  <a:t>el gradiente original se proyecta sobre un hiperplano, y la actualización de los pesos ocurre en ese plano.</a:t>
                </a:r>
              </a:p>
              <a:p>
                <a:r>
                  <a:rPr lang="es-MX" dirty="0"/>
                  <a:t>De esa manera, </a:t>
                </a:r>
                <a:r>
                  <a:rPr lang="es-MX" dirty="0" err="1"/>
                  <a:t>GC</a:t>
                </a:r>
                <a:r>
                  <a:rPr lang="es-MX" dirty="0"/>
                  <a:t> evita desviaciones excesivas en la dirección del gradiente,</a:t>
                </a:r>
                <a:br>
                  <a:rPr lang="es-MX" dirty="0"/>
                </a:br>
                <a:r>
                  <a:rPr lang="es-MX" dirty="0"/>
                  <a:t>manteniendo el aprendizaje estable y consistente</a:t>
                </a:r>
              </a:p>
              <a:p>
                <a:endParaRPr lang="es-BO" dirty="0"/>
              </a:p>
            </p:txBody>
          </p:sp>
        </mc:Choice>
        <mc:Fallback xmlns="">
          <p:sp>
            <p:nvSpPr>
              <p:cNvPr id="3" name="Marcador de notas 2">
                <a:extLst>
                  <a:ext uri="{FF2B5EF4-FFF2-40B4-BE49-F238E27FC236}">
                    <a16:creationId xmlns:a16="http://schemas.microsoft.com/office/drawing/2014/main" id="{81A3C489-0C74-7724-5E6F-FF47088C9A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BO" dirty="0"/>
                  <a:t>Desde el punto de vista geométrico, el gradiente centralizado</a:t>
                </a:r>
              </a:p>
              <a:p>
                <a:pPr marL="0" indent="0">
                  <a:buNone/>
                </a:pPr>
                <a:r>
                  <a:rPr lang="el-GR" i="0">
                    <a:latin typeface="Cambria Math" panose="02040503050406030204" pitchFamily="18" charset="0"/>
                  </a:rPr>
                  <a:t>Φ</a:t>
                </a:r>
                <a:r>
                  <a:rPr lang="ar-AE" i="0">
                    <a:latin typeface="Cambria Math" panose="02040503050406030204" pitchFamily="18" charset="0"/>
                  </a:rPr>
                  <a:t>_𝐺𝐶 (∇_𝑊 𝐿)</a:t>
                </a:r>
                <a:endParaRPr lang="es-BO" dirty="0"/>
              </a:p>
              <a:p>
                <a:pPr marL="0" indent="0">
                  <a:buNone/>
                </a:pPr>
                <a:r>
                  <a:rPr lang="es-BO" dirty="0"/>
                  <a:t>es una </a:t>
                </a:r>
                <a:r>
                  <a:rPr lang="es-BO" b="1" dirty="0"/>
                  <a:t>versión proyectada del gradiente original</a:t>
                </a:r>
                <a:r>
                  <a:rPr lang="es-BO" dirty="0"/>
                  <a:t>, confinada a un subespacio.</a:t>
                </a:r>
              </a:p>
              <a:p>
                <a:r>
                  <a:rPr lang="es-MX" dirty="0"/>
                  <a:t>En otras palabras, </a:t>
                </a:r>
                <a:r>
                  <a:rPr lang="es-MX" i="1" dirty="0" err="1"/>
                  <a:t>Gradient</a:t>
                </a:r>
                <a:r>
                  <a:rPr lang="es-MX" i="1" dirty="0"/>
                  <a:t> </a:t>
                </a:r>
                <a:r>
                  <a:rPr lang="es-MX" i="1" dirty="0" err="1"/>
                  <a:t>Centralization</a:t>
                </a:r>
                <a:r>
                  <a:rPr lang="es-MX" dirty="0"/>
                  <a:t> elimina la componente promedio del gradiente, confinando la actualización de los pesos a un </a:t>
                </a:r>
                <a:r>
                  <a:rPr lang="es-MX" b="1" dirty="0"/>
                  <a:t>hiperplano</a:t>
                </a:r>
                <a:r>
                  <a:rPr lang="es-MX" dirty="0"/>
                  <a:t> donde la suma de las componentes del gradiente es igual a cero.</a:t>
                </a:r>
              </a:p>
              <a:p>
                <a:r>
                  <a:rPr lang="es-MX" dirty="0"/>
                  <a:t>Este proceso impone una </a:t>
                </a:r>
                <a:r>
                  <a:rPr lang="es-MX" b="1" dirty="0"/>
                  <a:t>restricción de equilibrio</a:t>
                </a:r>
                <a:r>
                  <a:rPr lang="es-MX" dirty="0"/>
                  <a:t> en las actualizaciones de los parámetros: en lugar de moverse libremente en todo el espacio de pesos, el modelo se optimiza dentro de una región limitada, manteniendo el sistema centrado.</a:t>
                </a:r>
                <a:endParaRPr lang="es-BO" dirty="0"/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78885C-EDBB-8AF3-5E24-03163BC70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087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D92A-DB9B-0060-91E7-EC968338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D6EF0B-D45F-CB19-7AB1-77B77B46D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EE626B-6651-A150-3B88-6E2DD218C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Ao remover o componente médio dos gradientes, a GC atua como uma forma de regularização implícita.</a:t>
            </a:r>
          </a:p>
          <a:p>
            <a:endParaRPr lang="pt-BR" dirty="0"/>
          </a:p>
          <a:p>
            <a:r>
              <a:rPr lang="pt-BR" dirty="0"/>
              <a:t>Isso reduz a redundância nas atualizações,</a:t>
            </a:r>
          </a:p>
          <a:p>
            <a:r>
              <a:rPr lang="pt-BR" dirty="0"/>
              <a:t>limita o possível espaço de soluções</a:t>
            </a:r>
          </a:p>
          <a:p>
            <a:r>
              <a:rPr lang="pt-BR" dirty="0"/>
              <a:t>e evita o </a:t>
            </a:r>
            <a:r>
              <a:rPr lang="pt-BR" dirty="0" err="1"/>
              <a:t>sobreajuste</a:t>
            </a:r>
            <a:r>
              <a:rPr lang="pt-BR" dirty="0"/>
              <a:t>,</a:t>
            </a:r>
          </a:p>
          <a:p>
            <a:r>
              <a:rPr lang="pt-BR" dirty="0"/>
              <a:t>sem a necessidade de adicionar novos </a:t>
            </a:r>
            <a:r>
              <a:rPr lang="pt-BR" dirty="0" err="1"/>
              <a:t>hiperparâmetros</a:t>
            </a:r>
            <a:r>
              <a:rPr lang="pt-BR" dirty="0"/>
              <a:t>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CC2865-BD60-B9A4-57F9-7E106EEA8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77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26F5-17A8-898D-DE06-86CCE3A9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685E91-6EC3-2CF7-3B37-3FFCA23F5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5FE43E-63C6-D678-1C48-74E91CC03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autores demonstram que a GC melhora a </a:t>
            </a:r>
            <a:r>
              <a:rPr lang="pt-BR" dirty="0" err="1"/>
              <a:t>Lipschitzness</a:t>
            </a:r>
            <a:r>
              <a:rPr lang="pt-BR" dirty="0"/>
              <a:t> da função de perda e seu gradiente.</a:t>
            </a:r>
          </a:p>
          <a:p>
            <a:endParaRPr lang="pt-BR" dirty="0"/>
          </a:p>
          <a:p>
            <a:r>
              <a:rPr lang="pt-BR" dirty="0"/>
              <a:t>Isso significa que as variações na perda em relação aos pesos se tornam mais suaves,</a:t>
            </a:r>
          </a:p>
          <a:p>
            <a:r>
              <a:rPr lang="pt-BR" dirty="0"/>
              <a:t>reduzindo a probabilidade de oscilações e acelerando a convergência.</a:t>
            </a:r>
          </a:p>
          <a:p>
            <a:endParaRPr lang="pt-BR" dirty="0"/>
          </a:p>
          <a:p>
            <a:r>
              <a:rPr lang="pt-BR" dirty="0"/>
              <a:t>Em outras palavras, o treinamento se torna mais previsível e eficiente.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984CAD-3D53-D5A9-35AB-67F0CBF55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9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BD4D-FDC9-D86D-897B-2991C112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5A55D8-D3A2-1741-BA89-CCFA54DB2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6E8C3F-26AC-E477-B07F-E6BC06E3E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Outra vantagem é que a GC reduz valores extremos em gradientes,</a:t>
            </a:r>
          </a:p>
          <a:p>
            <a:r>
              <a:rPr lang="pt-BR" dirty="0"/>
              <a:t>semelhante ao recorte de gradiente.</a:t>
            </a:r>
          </a:p>
          <a:p>
            <a:endParaRPr lang="pt-BR" dirty="0"/>
          </a:p>
          <a:p>
            <a:r>
              <a:rPr lang="pt-BR" dirty="0"/>
              <a:t>Isso evita a explosão e o desaparecimento de gradientes,</a:t>
            </a:r>
          </a:p>
          <a:p>
            <a:r>
              <a:rPr lang="pt-BR" dirty="0"/>
              <a:t>dois dos problemas mais comuns em redes profundas.</a:t>
            </a:r>
          </a:p>
          <a:p>
            <a:endParaRPr lang="pt-BR" dirty="0"/>
          </a:p>
          <a:p>
            <a:r>
              <a:rPr lang="pt-BR" dirty="0"/>
              <a:t>Como resultado, as atualizações se tornam mais suaves e o treinamento é mais estável.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29BF84-8970-A032-BB03-536999DF8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985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17E32-41DA-CD7B-646B-1A9B3C64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441632-28B1-2975-AE3A-29E24C9F3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CFA84C-A74C-21A1-14E6-CB1C131E9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mais interessante é que a GC não substitui otimizadores como </a:t>
            </a:r>
            <a:r>
              <a:rPr lang="pt-BR" dirty="0" err="1"/>
              <a:t>SGD</a:t>
            </a:r>
            <a:r>
              <a:rPr lang="pt-BR" dirty="0"/>
              <a:t> ou Adam:</a:t>
            </a:r>
          </a:p>
          <a:p>
            <a:r>
              <a:rPr lang="pt-BR" dirty="0"/>
              <a:t>ele simplesmente se integra a eles com uma única linha de código.</a:t>
            </a:r>
          </a:p>
          <a:p>
            <a:endParaRPr lang="pt-BR" dirty="0"/>
          </a:p>
          <a:p>
            <a:r>
              <a:rPr lang="pt-BR" dirty="0"/>
              <a:t>Por exemplo, em </a:t>
            </a:r>
            <a:r>
              <a:rPr lang="pt-BR" dirty="0" err="1"/>
              <a:t>SGD</a:t>
            </a:r>
            <a:r>
              <a:rPr lang="pt-BR" dirty="0"/>
              <a:t> com momentum,</a:t>
            </a:r>
          </a:p>
          <a:p>
            <a:r>
              <a:rPr lang="pt-BR" dirty="0"/>
              <a:t>apenas o gradiente é substituído por sua versão centralizada:</a:t>
            </a:r>
          </a:p>
          <a:p>
            <a:endParaRPr lang="pt-BR" dirty="0"/>
          </a:p>
          <a:p>
            <a:r>
              <a:rPr lang="pt-BR" dirty="0"/>
              <a:t>ĝₜ = </a:t>
            </a:r>
            <a:r>
              <a:rPr lang="pt-BR" dirty="0" err="1"/>
              <a:t>ΦGC</a:t>
            </a:r>
            <a:r>
              <a:rPr lang="pt-BR" dirty="0"/>
              <a:t>(gₜ).</a:t>
            </a:r>
          </a:p>
          <a:p>
            <a:endParaRPr lang="pt-BR" dirty="0"/>
          </a:p>
          <a:p>
            <a:r>
              <a:rPr lang="pt-BR" dirty="0"/>
              <a:t>Então, a atualização do peso continua exatamente da mesma forma.</a:t>
            </a:r>
          </a:p>
          <a:p>
            <a:endParaRPr lang="pt-BR" dirty="0"/>
          </a:p>
          <a:p>
            <a:r>
              <a:rPr lang="pt-BR" dirty="0"/>
              <a:t>Isso torna a GC compatível com praticamente qualquer otimizador baseado em gradiente.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5EF13B-3A86-6511-1C92-8BC954634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2749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B830-CB93-6734-4300-FF24B282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6F22B2-7378-6EC4-B9D1-81B1B1E3E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6FD03C-6E99-F1DF-E1F3-F04E6DA85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podemos ver onde a Centralização de Gradiente se encaixa no fluxo de trabalho padrão de treinamento de rede.</a:t>
            </a:r>
          </a:p>
          <a:p>
            <a:endParaRPr lang="pt-BR" dirty="0"/>
          </a:p>
          <a:p>
            <a:r>
              <a:rPr lang="pt-BR" dirty="0"/>
              <a:t>Primeiro, a rede realiza a propagação direta, calculando as previsões e a função de perda.</a:t>
            </a:r>
          </a:p>
          <a:p>
            <a:r>
              <a:rPr lang="pt-BR" dirty="0"/>
              <a:t>Em seguida, os gradientes dessa perda são calculados em relação aos pesos.</a:t>
            </a:r>
          </a:p>
          <a:p>
            <a:endParaRPr lang="pt-B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244F62-D2B6-D12A-13A2-6F2DEF504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277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5CCA-4C70-EAD5-EE0D-4C96D5939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088B68-469F-0065-00AA-58FCF5B44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C10D1A-5868-1930-8B59-4C5606188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 seção fornece uma visão mais clara de como a GC é aplicada na prática.</a:t>
            </a:r>
          </a:p>
          <a:p>
            <a:endParaRPr lang="pt-BR" dirty="0"/>
          </a:p>
          <a:p>
            <a:r>
              <a:rPr lang="pt-BR" dirty="0"/>
              <a:t>Primeiramente, o gradiente normal ∇</a:t>
            </a:r>
            <a:r>
              <a:rPr lang="pt-BR" dirty="0" err="1"/>
              <a:t>WL</a:t>
            </a:r>
            <a:r>
              <a:rPr lang="pt-BR" dirty="0"/>
              <a:t> é calculado.</a:t>
            </a:r>
          </a:p>
          <a:p>
            <a:r>
              <a:rPr lang="pt-BR" dirty="0"/>
              <a:t>Em seguida, a GC o transforma subtraindo sua média:</a:t>
            </a:r>
          </a:p>
          <a:p>
            <a:endParaRPr lang="pt-BR" dirty="0"/>
          </a:p>
          <a:p>
            <a:r>
              <a:rPr lang="pt-BR" dirty="0" err="1"/>
              <a:t>ΦGC</a:t>
            </a:r>
            <a:r>
              <a:rPr lang="pt-BR" dirty="0"/>
              <a:t>(∇</a:t>
            </a:r>
            <a:r>
              <a:rPr lang="pt-BR" dirty="0" err="1"/>
              <a:t>WL</a:t>
            </a:r>
            <a:r>
              <a:rPr lang="pt-BR" dirty="0"/>
              <a:t>) = ∇</a:t>
            </a:r>
            <a:r>
              <a:rPr lang="pt-BR" dirty="0" err="1"/>
              <a:t>WL</a:t>
            </a:r>
            <a:r>
              <a:rPr lang="pt-BR" dirty="0"/>
              <a:t> − média(∇</a:t>
            </a:r>
            <a:r>
              <a:rPr lang="pt-BR" dirty="0" err="1"/>
              <a:t>WL</a:t>
            </a:r>
            <a:r>
              <a:rPr lang="pt-BR" dirty="0"/>
              <a:t>).</a:t>
            </a:r>
          </a:p>
          <a:p>
            <a:endParaRPr lang="pt-BR" dirty="0"/>
          </a:p>
          <a:p>
            <a:r>
              <a:rPr lang="pt-BR" dirty="0"/>
              <a:t>Esse processo equilibra as atualizações e suaviza o comportamento do gradiente.</a:t>
            </a:r>
          </a:p>
          <a:p>
            <a:endParaRPr lang="pt-BR" dirty="0"/>
          </a:p>
          <a:p>
            <a:r>
              <a:rPr lang="pt-BR" dirty="0"/>
              <a:t>Finalmente, o otimizador — por exemplo, </a:t>
            </a:r>
            <a:r>
              <a:rPr lang="pt-BR" dirty="0" err="1"/>
              <a:t>SGD</a:t>
            </a:r>
            <a:r>
              <a:rPr lang="pt-BR" dirty="0"/>
              <a:t>, Adam ou </a:t>
            </a:r>
            <a:r>
              <a:rPr lang="pt-BR" dirty="0" err="1"/>
              <a:t>Adagrad</a:t>
            </a:r>
            <a:r>
              <a:rPr lang="pt-BR" dirty="0"/>
              <a:t> — usa esse gradiente centralizado para atualizar os pesos:</a:t>
            </a:r>
          </a:p>
          <a:p>
            <a:endParaRPr lang="pt-BR" dirty="0"/>
          </a:p>
          <a:p>
            <a:r>
              <a:rPr lang="pt-BR" dirty="0"/>
              <a:t>Wₜ₊₁ = Wₜ − α · </a:t>
            </a:r>
            <a:r>
              <a:rPr lang="pt-BR" dirty="0" err="1"/>
              <a:t>ΦGC</a:t>
            </a:r>
            <a:r>
              <a:rPr lang="pt-BR" dirty="0"/>
              <a:t>(∇</a:t>
            </a:r>
            <a:r>
              <a:rPr lang="pt-BR" dirty="0" err="1"/>
              <a:t>WL</a:t>
            </a:r>
            <a:r>
              <a:rPr lang="pt-BR" dirty="0"/>
              <a:t>).</a:t>
            </a:r>
          </a:p>
          <a:p>
            <a:endParaRPr lang="pt-BR" dirty="0"/>
          </a:p>
          <a:p>
            <a:r>
              <a:rPr lang="pt-BR" dirty="0"/>
              <a:t>O resultado é um treinamento mais estável e controlado, sem modificar a arquitetura ou o otimizador base.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7B7712-401F-8896-489D-A33B30D60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47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8E7B-3BD5-E4D4-5E89-A1219646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3534F1-1714-8BB1-4C44-5F52D5E94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D38C51-34DE-258C-5A69-EF6428EA6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 figura resume todo o processo descrito.</a:t>
            </a:r>
          </a:p>
          <a:p>
            <a:endParaRPr lang="pt-BR" dirty="0"/>
          </a:p>
          <a:p>
            <a:r>
              <a:rPr lang="pt-BR" dirty="0"/>
              <a:t>À esquerda, vemos o fluxo tradicional:</a:t>
            </a:r>
          </a:p>
          <a:p>
            <a:r>
              <a:rPr lang="pt-BR" dirty="0"/>
              <a:t>passagem para frente, cálculo de perdas, retropropagação e atualização de peso.</a:t>
            </a:r>
          </a:p>
          <a:p>
            <a:endParaRPr lang="pt-BR" dirty="0"/>
          </a:p>
          <a:p>
            <a:r>
              <a:rPr lang="pt-BR" dirty="0"/>
              <a:t>À direita, vemos o fluxo com Centralização de Gradiente:</a:t>
            </a:r>
          </a:p>
          <a:p>
            <a:r>
              <a:rPr lang="pt-BR" dirty="0"/>
              <a:t>antes da atualização, a centralização de gradiente é aplicada,</a:t>
            </a:r>
          </a:p>
          <a:p>
            <a:r>
              <a:rPr lang="pt-BR" dirty="0"/>
              <a:t>o que reduz a variabilidade e melhora a direção dos ajustes.</a:t>
            </a:r>
          </a:p>
          <a:p>
            <a:endParaRPr lang="pt-BR" dirty="0"/>
          </a:p>
          <a:p>
            <a:r>
              <a:rPr lang="pt-BR" dirty="0"/>
              <a:t>Em resumo, a GC não altera o algoritmo de aprendizado;</a:t>
            </a:r>
          </a:p>
          <a:p>
            <a:r>
              <a:rPr lang="pt-BR" dirty="0"/>
              <a:t>apenas o refina, garantindo que as etapas do otimizador sejam mais estáveis ​​e eficazes.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3A1BC7-A4C4-62FC-452F-A6189D56B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589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AF2C-7459-E8DA-8642-26CD1603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E8DDE6-973F-80C1-5234-8276E7F05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CA33D6-2560-6F12-5F6E-78567EBBF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pt-BR" dirty="0"/>
              <a:t>A aplicação da Centralização de Gradientes tem vários efeitos positivos na prática.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Primeiro, o modelo converge mais rápido:</a:t>
            </a:r>
          </a:p>
          <a:p>
            <a:pPr lvl="1"/>
            <a:r>
              <a:rPr lang="pt-BR" dirty="0"/>
              <a:t>a perda diminui em menos iterações porque os gradientes são mais estáveis ​​e consistentes.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Segundo, obtém-se maior estabilidade no aprendizado.</a:t>
            </a:r>
          </a:p>
          <a:p>
            <a:pPr lvl="1"/>
            <a:r>
              <a:rPr lang="pt-BR" dirty="0"/>
              <a:t>Ao remover componentes redundantes dos gradientes, oscilações bruscas são reduzidas e a divergência no treinamento é evitada.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E, finalmente, melhora o equilíbrio entre aprendizado e generalização.</a:t>
            </a:r>
          </a:p>
          <a:p>
            <a:pPr lvl="1"/>
            <a:r>
              <a:rPr lang="pt-BR" dirty="0"/>
              <a:t>A GC atua como uma regularização implícita: o modelo aprende bem sem </a:t>
            </a:r>
            <a:r>
              <a:rPr lang="pt-BR" dirty="0" err="1"/>
              <a:t>sobreajuste</a:t>
            </a:r>
            <a:r>
              <a:rPr lang="pt-BR" dirty="0"/>
              <a:t> aos dados.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Juntos, tudo isso torna o processo de treinamento mais controlado e eficiente,</a:t>
            </a:r>
          </a:p>
          <a:p>
            <a:pPr lvl="1"/>
            <a:r>
              <a:rPr lang="pt-BR" dirty="0"/>
              <a:t>especialmente em redes profundas ou com dados complexos.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B129CC-9E45-4ADD-BFDA-F9B02CE0B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564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CAAA-D2D9-C9A4-D5FF-FB714FD0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3ED7C07-D2B2-0929-D782-E5163D83A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F20085-7603-68B3-A4F2-0C0C72ACA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pt-BR" dirty="0"/>
              <a:t>Uma das vantagens mais notáveis ​​da GC é que ela pode ser facilmente integrada a otimizadores existentes, como </a:t>
            </a:r>
            <a:r>
              <a:rPr lang="pt-BR" dirty="0" err="1"/>
              <a:t>SGD</a:t>
            </a:r>
            <a:r>
              <a:rPr lang="pt-BR" dirty="0"/>
              <a:t>, Adam ou </a:t>
            </a:r>
            <a:r>
              <a:rPr lang="pt-BR" dirty="0" err="1"/>
              <a:t>Adagrad</a:t>
            </a:r>
            <a:r>
              <a:rPr lang="pt-BR" dirty="0"/>
              <a:t>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Na prática, o uso da GC apresenta alguns benefícios significativos: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Podemos aumentar ligeiramente a taxa de aprendizado sem perder estabilidade.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 rede atinge a convergência em menos períodos.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 método funciona bem com diferentes otimizadores, sem a necessidade de alterar as configurações.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Isso demonstra que a GC não compete com os otimizadores tradicionais, mas sim os complementa, tornando seu comportamento mais previsível e eficiente.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96289-FBDB-13F0-F576-970E4BE0E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1201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4828-A585-602F-2D35-FFAF6F60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089D45-E386-6CDF-BBFD-5CEE06052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16245C-31A9-9A92-AC76-63EAC4DE0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Este gráfico compara quatro combinações:</a:t>
            </a:r>
          </a:p>
          <a:p>
            <a:r>
              <a:rPr lang="pt-BR" dirty="0"/>
              <a:t>Normalização em Lote (BN), BN com GC, BN com Padronização de Peso (WS) e a combinação </a:t>
            </a:r>
            <a:r>
              <a:rPr lang="pt-BR" dirty="0" err="1"/>
              <a:t>BN+WS+GC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Na parte superior, vemos a perda de treinamento e, abaixo, a precisão no conjunto de teste.</a:t>
            </a:r>
          </a:p>
          <a:p>
            <a:endParaRPr lang="pt-BR" dirty="0"/>
          </a:p>
          <a:p>
            <a:r>
              <a:rPr lang="pt-BR" dirty="0"/>
              <a:t>As curvas vermelha e azul — aquelas que usam GC — diminuem e se estabilizam mais rapidamente,</a:t>
            </a:r>
          </a:p>
          <a:p>
            <a:r>
              <a:rPr lang="pt-BR" dirty="0"/>
              <a:t>mostrando que o treinamento é mais rápido e estável.</a:t>
            </a:r>
          </a:p>
          <a:p>
            <a:endParaRPr lang="pt-BR" dirty="0"/>
          </a:p>
          <a:p>
            <a:r>
              <a:rPr lang="pt-BR" dirty="0"/>
              <a:t>Além disso, na validação, a GC atinge maior precisão final.</a:t>
            </a:r>
          </a:p>
          <a:p>
            <a:endParaRPr lang="pt-BR" dirty="0"/>
          </a:p>
          <a:p>
            <a:r>
              <a:rPr lang="pt-BR" dirty="0"/>
              <a:t>Em resumo, a GC acelera o treinamento e melhora a generalização,</a:t>
            </a:r>
          </a:p>
          <a:p>
            <a:r>
              <a:rPr lang="pt-BR" dirty="0"/>
              <a:t>mesmo quando combinada com outros métodos, como </a:t>
            </a:r>
            <a:r>
              <a:rPr lang="pt-BR" dirty="0" err="1"/>
              <a:t>BatchNorm</a:t>
            </a:r>
            <a:r>
              <a:rPr lang="pt-BR" dirty="0"/>
              <a:t> e Padronização de Peso.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BFC045-B98B-9E97-CFC8-B7EC1281B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382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83D0F-AA48-B3EA-17F8-A656DCA7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EEFAF0-C3B5-CA07-1380-4C21D2F32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68DD9E-0F9E-7124-FDDE-B54866C37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Centralização de Gradientes apresenta diversas vantagens notáveis.</a:t>
            </a:r>
          </a:p>
          <a:p>
            <a:endParaRPr lang="pt-BR" dirty="0"/>
          </a:p>
          <a:p>
            <a:r>
              <a:rPr lang="pt-BR" dirty="0"/>
              <a:t>Primeiro, sua simplicidade de implementação.</a:t>
            </a:r>
          </a:p>
          <a:p>
            <a:r>
              <a:rPr lang="pt-BR" dirty="0"/>
              <a:t>Pode ser integrada a qualquer otimizador baseado em gradientes — como </a:t>
            </a:r>
            <a:r>
              <a:rPr lang="pt-BR" dirty="0" err="1"/>
              <a:t>SGD</a:t>
            </a:r>
            <a:r>
              <a:rPr lang="pt-BR" dirty="0"/>
              <a:t> ou Adam — com apenas uma linha de código, sem alterar a arquitetura ou adicionar novos parâmetros.</a:t>
            </a:r>
          </a:p>
          <a:p>
            <a:endParaRPr lang="pt-BR" dirty="0"/>
          </a:p>
          <a:p>
            <a:r>
              <a:rPr lang="pt-BR" dirty="0"/>
              <a:t>Segundo, sua compatibilidade universal.</a:t>
            </a:r>
          </a:p>
          <a:p>
            <a:r>
              <a:rPr lang="pt-BR" dirty="0"/>
              <a:t>Pode ser aplicada a todos os tipos de modelos: redes convolucionais, redes densas, modelos de transferência</a:t>
            </a:r>
          </a:p>
          <a:p>
            <a:r>
              <a:rPr lang="pt-BR" dirty="0"/>
              <a:t>e até mesmo redes </a:t>
            </a:r>
            <a:r>
              <a:rPr lang="pt-BR" dirty="0" err="1"/>
              <a:t>pré</a:t>
            </a:r>
            <a:r>
              <a:rPr lang="pt-BR" dirty="0"/>
              <a:t>-treinadas, algo que não ocorre com técnicas como a Padronização de Pesos.</a:t>
            </a:r>
          </a:p>
          <a:p>
            <a:endParaRPr lang="pt-BR" dirty="0"/>
          </a:p>
          <a:p>
            <a:r>
              <a:rPr lang="pt-BR" dirty="0"/>
              <a:t>E, por fim, melhora a estabilidade do treinamento.</a:t>
            </a:r>
          </a:p>
          <a:p>
            <a:r>
              <a:rPr lang="pt-BR" dirty="0"/>
              <a:t>Ao eliminar o componente médio dos gradientes, reduz a variância e previne explosões ou desaparecimentos de gradientes.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84AB7-CE7F-0D8A-C9D7-B8B5741DE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362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B0B8D-7638-88EF-1738-79E2116B9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2C3C86-6218-9218-70EB-6CCD1D5A6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837AC4-4A59-866E-750E-B118B9313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Além disso, a GC oferece duas outras vantagens muito importantes.</a:t>
            </a:r>
          </a:p>
          <a:p>
            <a:endParaRPr lang="pt-BR" dirty="0"/>
          </a:p>
          <a:p>
            <a:r>
              <a:rPr lang="pt-BR" dirty="0"/>
              <a:t>Uma delas é sua regularização implícita:</a:t>
            </a:r>
          </a:p>
          <a:p>
            <a:r>
              <a:rPr lang="pt-BR" dirty="0"/>
              <a:t>ao limitar o espaço de soluções possíveis, atua como um mecanismo natural que previne o </a:t>
            </a:r>
            <a:r>
              <a:rPr lang="pt-BR" dirty="0" err="1"/>
              <a:t>sobreajuste</a:t>
            </a:r>
            <a:r>
              <a:rPr lang="pt-BR" dirty="0"/>
              <a:t>,</a:t>
            </a:r>
          </a:p>
          <a:p>
            <a:r>
              <a:rPr lang="pt-BR" dirty="0"/>
              <a:t>sem a necessidade de novos </a:t>
            </a:r>
            <a:r>
              <a:rPr lang="pt-BR" dirty="0" err="1"/>
              <a:t>hiperparâmetros</a:t>
            </a:r>
            <a:r>
              <a:rPr lang="pt-BR" dirty="0"/>
              <a:t> ou funções adicionais.</a:t>
            </a:r>
          </a:p>
          <a:p>
            <a:endParaRPr lang="pt-BR" dirty="0"/>
          </a:p>
          <a:p>
            <a:r>
              <a:rPr lang="pt-BR" dirty="0"/>
              <a:t>A outra é sua eficiência computacional.</a:t>
            </a:r>
          </a:p>
          <a:p>
            <a:r>
              <a:rPr lang="pt-BR" dirty="0"/>
              <a:t>A operação de centralização tem custo quase zero e não aumenta o tempo de treinamento.</a:t>
            </a:r>
          </a:p>
          <a:p>
            <a:endParaRPr lang="pt-BR" dirty="0"/>
          </a:p>
          <a:p>
            <a:r>
              <a:rPr lang="pt-BR" dirty="0"/>
              <a:t>De fato, os experimentos no artigo mostram melhorias consistentes em conjuntos de dados como CIFAR-100, </a:t>
            </a:r>
            <a:r>
              <a:rPr lang="pt-BR" dirty="0" err="1"/>
              <a:t>ImageNet</a:t>
            </a:r>
            <a:r>
              <a:rPr lang="pt-BR" dirty="0"/>
              <a:t> e COCO,</a:t>
            </a:r>
          </a:p>
          <a:p>
            <a:r>
              <a:rPr lang="pt-BR" dirty="0"/>
              <a:t>confirmando que é um método leve, porém eficaz.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608356-02E7-4993-F809-C72689C6F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808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6DBC-D223-AC6A-4AB3-D5437B5B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DB0D90-377E-C110-38C8-E5656EC01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BBA317-2B6E-7BF1-ED6C-9088BD311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claro que a GC também apresenta algumas limitações.</a:t>
            </a:r>
          </a:p>
          <a:p>
            <a:endParaRPr lang="pt-BR" dirty="0"/>
          </a:p>
          <a:p>
            <a:r>
              <a:rPr lang="pt-BR" dirty="0"/>
              <a:t>A primeira é que os ganhos são modestos.</a:t>
            </a:r>
          </a:p>
          <a:p>
            <a:r>
              <a:rPr lang="pt-BR" dirty="0"/>
              <a:t>Embora as melhorias sejam consistentes, elas normalmente variam entre 0,5% e 2% em precisão.</a:t>
            </a:r>
          </a:p>
          <a:p>
            <a:endParaRPr lang="pt-BR" dirty="0"/>
          </a:p>
          <a:p>
            <a:r>
              <a:rPr lang="pt-BR" dirty="0"/>
              <a:t>Isso significa que a GC não substitui técnicas mais complexas, mas sim as complementa.</a:t>
            </a:r>
          </a:p>
          <a:p>
            <a:endParaRPr lang="pt-BR" dirty="0"/>
          </a:p>
          <a:p>
            <a:r>
              <a:rPr lang="pt-BR" dirty="0"/>
              <a:t>Além disso, seu impacto pode depender do otimizador subjacente.</a:t>
            </a:r>
          </a:p>
          <a:p>
            <a:r>
              <a:rPr lang="pt-BR" dirty="0"/>
              <a:t>Em otimizadores altamente adaptativos, como Adam ou </a:t>
            </a:r>
            <a:r>
              <a:rPr lang="pt-BR" dirty="0" err="1"/>
              <a:t>RMSProp</a:t>
            </a:r>
            <a:r>
              <a:rPr lang="pt-BR" dirty="0"/>
              <a:t>,</a:t>
            </a:r>
          </a:p>
          <a:p>
            <a:r>
              <a:rPr lang="pt-BR" dirty="0"/>
              <a:t>o efeito da GC pode ser menos evidente.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A66CD2-3641-434A-04BD-2FB055BB2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7698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3023-4CEA-A141-8BD4-138FFBDD6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98FECB-CE25-1136-3967-F13063CEC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28614E-4C02-C4CE-596C-382DEFDC3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Outra limitação é a falta de controle direto.</a:t>
            </a:r>
          </a:p>
          <a:p>
            <a:r>
              <a:rPr lang="pt-BR" dirty="0"/>
              <a:t>A GC não introduz novos </a:t>
            </a:r>
            <a:r>
              <a:rPr lang="pt-BR" dirty="0" err="1"/>
              <a:t>hiperparâmetros</a:t>
            </a:r>
            <a:r>
              <a:rPr lang="pt-BR" dirty="0"/>
              <a:t>,</a:t>
            </a:r>
          </a:p>
          <a:p>
            <a:r>
              <a:rPr lang="pt-BR" dirty="0"/>
              <a:t>portanto, a magnitude da centralização não pode ser ajustada.</a:t>
            </a:r>
          </a:p>
          <a:p>
            <a:r>
              <a:rPr lang="pt-BR" dirty="0"/>
              <a:t>Isso limita a personalização do método em alguns casos.</a:t>
            </a:r>
          </a:p>
          <a:p>
            <a:endParaRPr lang="pt-BR" dirty="0"/>
          </a:p>
          <a:p>
            <a:r>
              <a:rPr lang="pt-BR" dirty="0"/>
              <a:t>Além disso, a maioria dos testes do artigo foi conduzida na área de visão computacional:</a:t>
            </a:r>
          </a:p>
          <a:p>
            <a:r>
              <a:rPr lang="pt-BR" dirty="0"/>
              <a:t>classificação, detecção e segmentação.</a:t>
            </a:r>
          </a:p>
          <a:p>
            <a:endParaRPr lang="pt-BR" dirty="0"/>
          </a:p>
          <a:p>
            <a:r>
              <a:rPr lang="pt-BR" dirty="0"/>
              <a:t>Sua eficácia em outros domínios, como processamento de linguagem natural ou séries temporais,</a:t>
            </a:r>
          </a:p>
          <a:p>
            <a:r>
              <a:rPr lang="pt-BR" dirty="0"/>
              <a:t>ainda requer mais investigação.</a:t>
            </a:r>
          </a:p>
          <a:p>
            <a:endParaRPr lang="pt-BR" dirty="0"/>
          </a:p>
          <a:p>
            <a:r>
              <a:rPr lang="pt-BR" dirty="0"/>
              <a:t>Em suma, a GC é um método simples e geral,</a:t>
            </a:r>
          </a:p>
          <a:p>
            <a:r>
              <a:rPr lang="pt-BR" dirty="0"/>
              <a:t>mas ainda tem espaço para exploração além do campo de visão.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A56686-F606-5F70-1449-CDF39ABEB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5783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305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286F-7155-73D9-BADB-0E875FE7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75FC60-85C1-FFA4-4847-86D1426BB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03E0A6-F180-AED4-0119-7E556ABA9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Este slide avalia o efeito da GC em diferentes arquiteturas:</a:t>
            </a:r>
          </a:p>
          <a:p>
            <a:r>
              <a:rPr lang="pt-BR" dirty="0" err="1"/>
              <a:t>ResNet</a:t>
            </a:r>
            <a:r>
              <a:rPr lang="pt-BR" dirty="0"/>
              <a:t>, </a:t>
            </a:r>
            <a:r>
              <a:rPr lang="pt-BR" dirty="0" err="1"/>
              <a:t>VGG</a:t>
            </a:r>
            <a:r>
              <a:rPr lang="pt-BR" dirty="0"/>
              <a:t>, </a:t>
            </a:r>
            <a:r>
              <a:rPr lang="pt-BR" dirty="0" err="1"/>
              <a:t>DenseNet</a:t>
            </a:r>
            <a:r>
              <a:rPr lang="pt-BR" dirty="0"/>
              <a:t> e </a:t>
            </a:r>
            <a:r>
              <a:rPr lang="pt-BR" dirty="0" err="1"/>
              <a:t>ResNeXt</a:t>
            </a:r>
            <a:r>
              <a:rPr lang="pt-BR" dirty="0"/>
              <a:t>, todas treinadas no CIFAR-100.</a:t>
            </a:r>
          </a:p>
          <a:p>
            <a:endParaRPr lang="pt-BR" dirty="0"/>
          </a:p>
          <a:p>
            <a:r>
              <a:rPr lang="pt-BR" dirty="0"/>
              <a:t>Curiosamente, a GC melhora a precisão em todas as redes,</a:t>
            </a:r>
          </a:p>
          <a:p>
            <a:r>
              <a:rPr lang="pt-BR" dirty="0"/>
              <a:t>mesmo em arquiteturas com estruturas muito diferentes.</a:t>
            </a:r>
          </a:p>
          <a:p>
            <a:endParaRPr lang="pt-BR" dirty="0"/>
          </a:p>
          <a:p>
            <a:r>
              <a:rPr lang="pt-BR" dirty="0"/>
              <a:t>As melhorias variam de 1% a 2% na precisão,</a:t>
            </a:r>
          </a:p>
          <a:p>
            <a:r>
              <a:rPr lang="pt-BR" dirty="0"/>
              <a:t>o que é bastante significativo considerando que a alteração é apenas uma única linha de código.</a:t>
            </a:r>
          </a:p>
          <a:p>
            <a:endParaRPr lang="pt-BR" dirty="0"/>
          </a:p>
          <a:p>
            <a:r>
              <a:rPr lang="pt-BR" dirty="0"/>
              <a:t>Isso demonstra que a GC é um método geral e adaptável, independente do tipo de rede.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0A9A10-8717-5F5C-4845-F5354A074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6468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0AB6-405C-247E-6EEB-D2ECA84D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8F9A73-24DA-5FCB-102B-1039CAB11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EBCC8E-9778-FFA5-37C4-0C85A5569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Aqui, analisamos o impacto da GC em diferentes algoritmos de otimização:</a:t>
            </a:r>
          </a:p>
          <a:p>
            <a:r>
              <a:rPr lang="pt-BR" dirty="0" err="1"/>
              <a:t>SGDM</a:t>
            </a:r>
            <a:r>
              <a:rPr lang="pt-BR" dirty="0"/>
              <a:t>, Adam, </a:t>
            </a:r>
            <a:r>
              <a:rPr lang="pt-BR" dirty="0" err="1"/>
              <a:t>Adagrad</a:t>
            </a:r>
            <a:r>
              <a:rPr lang="pt-BR" dirty="0"/>
              <a:t>, </a:t>
            </a:r>
            <a:r>
              <a:rPr lang="pt-BR" dirty="0" err="1"/>
              <a:t>SGDW</a:t>
            </a:r>
            <a:r>
              <a:rPr lang="pt-BR" dirty="0"/>
              <a:t> e </a:t>
            </a:r>
            <a:r>
              <a:rPr lang="pt-BR" dirty="0" err="1"/>
              <a:t>AdamW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Os resultados mostram que a GC melhora o desempenho de todos eles,</a:t>
            </a:r>
          </a:p>
          <a:p>
            <a:r>
              <a:rPr lang="pt-BR" dirty="0"/>
              <a:t>incluindo algoritmos adaptativos como Adam ou </a:t>
            </a:r>
            <a:r>
              <a:rPr lang="pt-BR" dirty="0" err="1"/>
              <a:t>Adagrad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No geral, o aumento na precisão varia de 0,8% a 2%,</a:t>
            </a:r>
          </a:p>
          <a:p>
            <a:r>
              <a:rPr lang="pt-BR" dirty="0"/>
              <a:t>confirmando que a GC é um complemento universal para qualquer otimizador baseado em gradiente.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3B4049-5C32-6C54-73EF-6B38E1CBD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533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04C9B-A63A-2950-75E2-B8C327DB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E31B5D-201E-E8E0-C777-524458D62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CA33E46-8D9A-EB5A-88E2-A03988E51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Esta tabela mostra como o desempenho de um ResNet-50 varia com mudanças no fator de decaimento ou regularização do peso.</a:t>
            </a:r>
          </a:p>
          <a:p>
            <a:endParaRPr lang="pt-BR" dirty="0"/>
          </a:p>
          <a:p>
            <a:r>
              <a:rPr lang="pt-BR" dirty="0"/>
              <a:t>Mesmo com valores diferentes, a GC mantém ou melhora a precisão em todos os casos.</a:t>
            </a:r>
          </a:p>
          <a:p>
            <a:endParaRPr lang="pt-BR" dirty="0"/>
          </a:p>
          <a:p>
            <a:r>
              <a:rPr lang="pt-BR" dirty="0"/>
              <a:t>Isso demonstra que seu efeito é robusto à regularização,</a:t>
            </a:r>
          </a:p>
          <a:p>
            <a:r>
              <a:rPr lang="pt-BR" dirty="0"/>
              <a:t>o que significa que a GC não interfere em outras técnicas de controle de </a:t>
            </a:r>
            <a:r>
              <a:rPr lang="pt-BR" dirty="0" err="1"/>
              <a:t>sobreajuste</a:t>
            </a:r>
            <a:r>
              <a:rPr lang="pt-BR" dirty="0"/>
              <a:t>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DEA4C-545E-8486-70CF-492069C21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7826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C588-255E-F8DC-D4DA-1B394276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2A4CE3-BF13-D4D5-342C-AC53E3960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EB04EB-F266-0D6A-5415-2481B6EAF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Aqui, analisamos o efeito da GC na alteração da taxa de aprendizado.</a:t>
            </a:r>
          </a:p>
          <a:p>
            <a:endParaRPr lang="pt-BR" dirty="0"/>
          </a:p>
          <a:p>
            <a:r>
              <a:rPr lang="pt-BR" dirty="0"/>
              <a:t>Com </a:t>
            </a:r>
            <a:r>
              <a:rPr lang="pt-BR" dirty="0" err="1"/>
              <a:t>SGD</a:t>
            </a:r>
            <a:r>
              <a:rPr lang="pt-BR" dirty="0"/>
              <a:t> e Adam, a GC melhora o desempenho em todos os valores testados.</a:t>
            </a:r>
          </a:p>
          <a:p>
            <a:endParaRPr lang="pt-BR" dirty="0"/>
          </a:p>
          <a:p>
            <a:r>
              <a:rPr lang="pt-BR" dirty="0"/>
              <a:t>Isso confirma que a GC não requer o reajuste de </a:t>
            </a:r>
            <a:r>
              <a:rPr lang="pt-BR" dirty="0" err="1"/>
              <a:t>hiperparâmetros</a:t>
            </a:r>
            <a:r>
              <a:rPr lang="pt-BR" dirty="0"/>
              <a:t>, como a taxa de aprendizado,</a:t>
            </a:r>
          </a:p>
          <a:p>
            <a:r>
              <a:rPr lang="pt-BR" dirty="0"/>
              <a:t>pois funciona bem em uma ampla gama de configurações.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7563EE-6D8D-EBD4-FBCF-F4E597DCB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9183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D9EC-70C8-4735-7A87-1F8109B0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7490E3-1734-60A8-CD1F-D213A3D6D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E09A1A-619C-CC4B-EDE2-64A9B7D3B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Após testar a GC na classificação geral,</a:t>
            </a:r>
          </a:p>
          <a:p>
            <a:r>
              <a:rPr lang="pt-BR" dirty="0"/>
              <a:t>os autores a aplicaram ao ajuste fino de um ResNet-50 </a:t>
            </a:r>
            <a:r>
              <a:rPr lang="pt-BR" dirty="0" err="1"/>
              <a:t>pré</a:t>
            </a:r>
            <a:r>
              <a:rPr lang="pt-BR" dirty="0"/>
              <a:t>-treinado no </a:t>
            </a:r>
            <a:r>
              <a:rPr lang="pt-BR" dirty="0" err="1"/>
              <a:t>ImageNet</a:t>
            </a:r>
            <a:endParaRPr lang="pt-BR" dirty="0"/>
          </a:p>
          <a:p>
            <a:r>
              <a:rPr lang="pt-BR" dirty="0"/>
              <a:t>em quatro conjuntos de dados mais específicos:</a:t>
            </a:r>
          </a:p>
          <a:p>
            <a:r>
              <a:rPr lang="pt-BR" dirty="0" err="1"/>
              <a:t>FGVC</a:t>
            </a:r>
            <a:r>
              <a:rPr lang="pt-BR" dirty="0"/>
              <a:t> </a:t>
            </a:r>
            <a:r>
              <a:rPr lang="pt-BR" dirty="0" err="1"/>
              <a:t>Aircraft</a:t>
            </a:r>
            <a:r>
              <a:rPr lang="pt-BR" dirty="0"/>
              <a:t>, Stanford Cars, Stanford Dogs e CUB-200-2011 (pássaros).</a:t>
            </a:r>
          </a:p>
          <a:p>
            <a:endParaRPr lang="pt-BR" dirty="0"/>
          </a:p>
          <a:p>
            <a:r>
              <a:rPr lang="pt-BR" dirty="0"/>
              <a:t>O objetivo é verificar se a GC também melhora os modelos </a:t>
            </a:r>
            <a:r>
              <a:rPr lang="pt-BR" dirty="0" err="1"/>
              <a:t>pré</a:t>
            </a:r>
            <a:r>
              <a:rPr lang="pt-BR" dirty="0"/>
              <a:t>-treinados.</a:t>
            </a:r>
          </a:p>
          <a:p>
            <a:endParaRPr lang="pt-BR" dirty="0"/>
          </a:p>
          <a:p>
            <a:r>
              <a:rPr lang="pt-BR" dirty="0"/>
              <a:t>E, de fato, em todos os casos, ela alcança maior precisão final e convergência mais rápida.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A6B44D-B33C-3BE4-5AA1-C55C60263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5812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4ECD-70B8-3AB3-112F-ACE8735C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B4AC24-B1BA-18A9-B26F-91F75EEAC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8BDED7-C2BE-008D-4E20-FCBA4F622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Estes gráficos mostram a precisão no treinamento (linha sólida)</a:t>
            </a:r>
          </a:p>
          <a:p>
            <a:r>
              <a:rPr lang="pt-BR" dirty="0"/>
              <a:t>e no teste (linha pontilhada).</a:t>
            </a:r>
          </a:p>
          <a:p>
            <a:endParaRPr lang="pt-BR" dirty="0"/>
          </a:p>
          <a:p>
            <a:r>
              <a:rPr lang="pt-BR" dirty="0"/>
              <a:t>A cor preta representa o treinamento padrão,</a:t>
            </a:r>
          </a:p>
          <a:p>
            <a:r>
              <a:rPr lang="pt-BR" dirty="0"/>
              <a:t>enquanto a cor vermelha representa o treinamento com GC.</a:t>
            </a:r>
          </a:p>
          <a:p>
            <a:endParaRPr lang="pt-BR" dirty="0"/>
          </a:p>
          <a:p>
            <a:r>
              <a:rPr lang="pt-BR" dirty="0"/>
              <a:t>Pode-se observar que as curvas vermelhas são mais altas desde os períodos iniciais</a:t>
            </a:r>
          </a:p>
          <a:p>
            <a:r>
              <a:rPr lang="pt-BR" dirty="0"/>
              <a:t>e se estabilizam mais cedo, alcançando melhor precisão final.</a:t>
            </a:r>
          </a:p>
          <a:p>
            <a:endParaRPr lang="pt-BR" dirty="0"/>
          </a:p>
          <a:p>
            <a:r>
              <a:rPr lang="pt-BR" dirty="0"/>
              <a:t>Isso significa que a GC acelera o aprendizado e melhora a generalização.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86C82A-6D0F-CBF0-709B-8589E87C6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45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1A6EC-7940-ADC7-4E93-07CE7FA15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F8A3E1-9050-48BF-5B56-4A0382139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4841B-2CF6-5362-79FA-0C8D67BF8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Analisando os resultados, podemos destacar três pontos.</a:t>
            </a:r>
          </a:p>
          <a:p>
            <a:endParaRPr lang="pt-BR" dirty="0"/>
          </a:p>
          <a:p>
            <a:r>
              <a:rPr lang="pt-BR" dirty="0"/>
              <a:t>Primeiro, a GC acelera a convergência do treinamento em modelos </a:t>
            </a:r>
            <a:r>
              <a:rPr lang="pt-BR" dirty="0" err="1"/>
              <a:t>pré</a:t>
            </a:r>
            <a:r>
              <a:rPr lang="pt-BR" dirty="0"/>
              <a:t>-treinados.</a:t>
            </a:r>
          </a:p>
          <a:p>
            <a:r>
              <a:rPr lang="pt-BR" dirty="0"/>
              <a:t>Segundo, melhora a precisão dos testes em todas as tarefas de classificação refinada.</a:t>
            </a:r>
          </a:p>
          <a:p>
            <a:r>
              <a:rPr lang="pt-BR" dirty="0"/>
              <a:t>E terceiro, é robusta em diferentes domínios de dados — veículos, animais ou pássaros.</a:t>
            </a:r>
          </a:p>
          <a:p>
            <a:endParaRPr lang="pt-BR" dirty="0"/>
          </a:p>
          <a:p>
            <a:r>
              <a:rPr lang="pt-BR" dirty="0"/>
              <a:t>Na tabela do artigo, as melhorias variam de 1% a 2% na precisão,</a:t>
            </a:r>
          </a:p>
          <a:p>
            <a:r>
              <a:rPr lang="pt-BR" dirty="0"/>
              <a:t>o que é significativo em conjuntos de dados já otimizados.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4F0C2-2911-7E37-1254-487ABB3FA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5153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686C3-2E7C-D819-D3F8-9CB2742E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FAFFA2-BA50-654A-6E49-19DA93CD8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F1D92E-C927-40C8-56E9-C242789BE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autores também testaram a GC em conjuntos de dados com classes visualmente semelhantes,</a:t>
            </a:r>
          </a:p>
          <a:p>
            <a:r>
              <a:rPr lang="pt-BR" dirty="0"/>
              <a:t>para medir sua capacidade de generalização.</a:t>
            </a:r>
          </a:p>
          <a:p>
            <a:endParaRPr lang="pt-BR" dirty="0"/>
          </a:p>
          <a:p>
            <a:r>
              <a:rPr lang="pt-BR" dirty="0"/>
              <a:t>Mesmo nesses casos difíceis, a GC melhora a precisão em 1% a 2%.</a:t>
            </a:r>
          </a:p>
          <a:p>
            <a:endParaRPr lang="pt-BR" dirty="0"/>
          </a:p>
          <a:p>
            <a:r>
              <a:rPr lang="pt-BR" dirty="0"/>
              <a:t>Isso demonstra que a GC não apenas ajuda a aprender mais rápido,</a:t>
            </a:r>
          </a:p>
          <a:p>
            <a:r>
              <a:rPr lang="pt-BR" dirty="0"/>
              <a:t>mas também ajuda a distinguir melhor entre categorias sutis,</a:t>
            </a:r>
          </a:p>
          <a:p>
            <a:r>
              <a:rPr lang="pt-BR" dirty="0"/>
              <a:t>reforçando seu papel como uma técnica de regularização natural.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5D9C1B-545F-A7D1-FA70-A888E3FE7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2043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BAA17-BEC2-EB63-55BC-CC5C7B49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7703EA-3E09-534D-BD9F-0B920BD94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9938FD-2954-7326-E2A0-7957C3DA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Aqui, a GC é avaliada em uma tarefa mais complexa: detecção de objetos no conjunto de dados COCO.</a:t>
            </a:r>
          </a:p>
          <a:p>
            <a:endParaRPr lang="pt-BR" dirty="0"/>
          </a:p>
          <a:p>
            <a:r>
              <a:rPr lang="pt-BR" dirty="0"/>
              <a:t>Observa-se um aumento consistente na precisão média (AP) em todos os modelos testados.</a:t>
            </a:r>
          </a:p>
          <a:p>
            <a:endParaRPr lang="pt-BR" dirty="0"/>
          </a:p>
          <a:p>
            <a:r>
              <a:rPr lang="pt-BR" dirty="0"/>
              <a:t>Isso é importante porque lotes tendem a apresentar baixa detecção,</a:t>
            </a:r>
          </a:p>
          <a:p>
            <a:r>
              <a:rPr lang="pt-BR" dirty="0"/>
              <a:t>e o </a:t>
            </a:r>
            <a:r>
              <a:rPr lang="pt-BR" dirty="0" err="1"/>
              <a:t>BatchNorm</a:t>
            </a:r>
            <a:r>
              <a:rPr lang="pt-BR" dirty="0"/>
              <a:t> perde eficácia,</a:t>
            </a:r>
          </a:p>
          <a:p>
            <a:r>
              <a:rPr lang="pt-BR" dirty="0"/>
              <a:t>mas a GC ainda oferece melhorias, demonstrando sua robustez.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7F6D6B-B512-D84E-A45A-86D6FA550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6160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6D3EC-8C06-15E0-B5BB-6ED62F39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8C974D-EDAD-D842-5D23-643139C3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536A23-B687-A2C8-CE8F-4F1B54D55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Nesta avaliação final, a GC é aplicada tanto à detecção quanto à segmentação.</a:t>
            </a:r>
          </a:p>
          <a:p>
            <a:endParaRPr lang="pt-BR" dirty="0"/>
          </a:p>
          <a:p>
            <a:r>
              <a:rPr lang="pt-BR" dirty="0"/>
              <a:t>Em ambas as tarefas, a GC melhora a precisão média:</a:t>
            </a:r>
          </a:p>
          <a:p>
            <a:r>
              <a:rPr lang="pt-BR" dirty="0"/>
              <a:t>aproximadamente +0,5% na detecção e +0,7% na segmentação.</a:t>
            </a:r>
          </a:p>
          <a:p>
            <a:endParaRPr lang="pt-BR" dirty="0"/>
          </a:p>
          <a:p>
            <a:r>
              <a:rPr lang="pt-BR" dirty="0"/>
              <a:t>Embora pareçam valores pequenos, na visão computacional essas são melhorias significativas,</a:t>
            </a:r>
          </a:p>
          <a:p>
            <a:r>
              <a:rPr lang="pt-BR" dirty="0"/>
              <a:t>especialmente considerando que a alteração foi mínima no código.</a:t>
            </a:r>
          </a:p>
          <a:p>
            <a:endParaRPr lang="pt-BR" dirty="0"/>
          </a:p>
          <a:p>
            <a:r>
              <a:rPr lang="pt-BR" dirty="0"/>
              <a:t>Isso confirma que a GC estende seus benefícios além da classificação de imagens.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10DEA4-666E-11D9-B8AD-777477105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2100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65F95-AA96-E1A1-084F-3165F1E2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35B7A3-15DE-0A22-BAEB-63A0E2FDA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395596-33E0-5637-678D-7F4ADBCC8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Nesta seção, compararemos a Centralização de Gradientes com outras técnicas de otimização e normalização bem conhecidas.</a:t>
            </a:r>
          </a:p>
          <a:p>
            <a:endParaRPr lang="pt-BR" dirty="0"/>
          </a:p>
          <a:p>
            <a:r>
              <a:rPr lang="pt-BR" dirty="0"/>
              <a:t>Enquanto métodos como Normalização em Lote ou Padronização de Pesos atuam em ativações ou pesos,</a:t>
            </a:r>
          </a:p>
          <a:p>
            <a:r>
              <a:rPr lang="pt-BR" dirty="0"/>
              <a:t>a GC se diferencia por atuar diretamente em gradientes.</a:t>
            </a:r>
          </a:p>
          <a:p>
            <a:endParaRPr lang="pt-BR" dirty="0"/>
          </a:p>
          <a:p>
            <a:r>
              <a:rPr lang="pt-BR" dirty="0"/>
              <a:t>Esta é uma mudança de abordagem muito interessante,</a:t>
            </a:r>
          </a:p>
          <a:p>
            <a:r>
              <a:rPr lang="pt-BR" dirty="0"/>
              <a:t>já que os gradientes estão no cerne do processo de aprendizagem.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39845A-25C8-9243-4CE9-E2BAE4B78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8234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3C52-0103-01F0-1449-D0D59F683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0F0985-FCB1-912F-4922-96F661F04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4181D8-B76E-1EAC-40FE-6A037B85E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vemos uma comparação direta entre três técnicas de normalização:</a:t>
            </a:r>
          </a:p>
          <a:p>
            <a:r>
              <a:rPr lang="pt-BR" dirty="0"/>
              <a:t>Normalização de Lote (BN), Padronização de Pesos (WS) e Centralização de Gradientes (GC).</a:t>
            </a:r>
          </a:p>
          <a:p>
            <a:endParaRPr lang="pt-BR" dirty="0"/>
          </a:p>
          <a:p>
            <a:r>
              <a:rPr lang="pt-BR" dirty="0"/>
              <a:t>A BN atua nas ativações, padronizando as saídas de cada camada.</a:t>
            </a:r>
          </a:p>
          <a:p>
            <a:r>
              <a:rPr lang="pt-BR" dirty="0"/>
              <a:t>Sua limitação é que depende do tamanho do lote e perde eficácia com lotes pequenos.</a:t>
            </a:r>
          </a:p>
          <a:p>
            <a:endParaRPr lang="pt-BR" dirty="0"/>
          </a:p>
          <a:p>
            <a:r>
              <a:rPr lang="pt-BR" dirty="0"/>
              <a:t>A WS normaliza os pesos, atribuindo-lhes média zero e variância unitária,</a:t>
            </a:r>
          </a:p>
          <a:p>
            <a:r>
              <a:rPr lang="pt-BR" dirty="0"/>
              <a:t>mas não é compatível com modelos </a:t>
            </a:r>
            <a:r>
              <a:rPr lang="pt-BR" dirty="0" err="1"/>
              <a:t>pré</a:t>
            </a:r>
            <a:r>
              <a:rPr lang="pt-BR" dirty="0"/>
              <a:t>-treinados.</a:t>
            </a:r>
          </a:p>
          <a:p>
            <a:endParaRPr lang="pt-BR" dirty="0"/>
          </a:p>
          <a:p>
            <a:r>
              <a:rPr lang="pt-BR" dirty="0"/>
              <a:t>Em contraste, a GC centraliza os gradientes subtraindo sua média.</a:t>
            </a:r>
          </a:p>
          <a:p>
            <a:r>
              <a:rPr lang="pt-BR" dirty="0"/>
              <a:t>Ela não altera pesos ou ativações,</a:t>
            </a:r>
          </a:p>
          <a:p>
            <a:r>
              <a:rPr lang="pt-BR" dirty="0"/>
              <a:t>e é aplicada apenas na etapa de otimização,</a:t>
            </a:r>
          </a:p>
          <a:p>
            <a:r>
              <a:rPr lang="pt-BR" dirty="0"/>
              <a:t>o que a torna muito mais flexível.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850BA5-5E90-FC72-73B7-5477C1B32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0507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6698-663D-8E51-53CC-9D52ED33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A8266D-4E57-88A3-0C41-876EED13D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5EE62A-AF34-500D-AC3D-641317D03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Agora vemos como a GC se relaciona com os otimizadores mais comuns.</a:t>
            </a:r>
          </a:p>
          <a:p>
            <a:endParaRPr lang="pt-BR" dirty="0"/>
          </a:p>
          <a:p>
            <a:r>
              <a:rPr lang="pt-BR" dirty="0"/>
              <a:t>Com </a:t>
            </a:r>
            <a:r>
              <a:rPr lang="pt-BR" dirty="0" err="1"/>
              <a:t>SGD</a:t>
            </a:r>
            <a:r>
              <a:rPr lang="pt-BR" dirty="0"/>
              <a:t> ou </a:t>
            </a:r>
            <a:r>
              <a:rPr lang="pt-BR" dirty="0" err="1"/>
              <a:t>SGDM</a:t>
            </a:r>
            <a:r>
              <a:rPr lang="pt-BR" dirty="0"/>
              <a:t>, a GC reduz oscilações e acelera a convergência.</a:t>
            </a:r>
          </a:p>
          <a:p>
            <a:endParaRPr lang="pt-BR" dirty="0"/>
          </a:p>
          <a:p>
            <a:r>
              <a:rPr lang="pt-BR" dirty="0"/>
              <a:t>Com Adam, melhora a estabilidade sem afetar sua capacidade adaptativa.</a:t>
            </a:r>
          </a:p>
          <a:p>
            <a:endParaRPr lang="pt-BR" dirty="0"/>
          </a:p>
          <a:p>
            <a:r>
              <a:rPr lang="pt-BR" dirty="0"/>
              <a:t>Com </a:t>
            </a:r>
            <a:r>
              <a:rPr lang="pt-BR" dirty="0" err="1"/>
              <a:t>Adagrad</a:t>
            </a:r>
            <a:r>
              <a:rPr lang="pt-BR" dirty="0"/>
              <a:t> ou </a:t>
            </a:r>
            <a:r>
              <a:rPr lang="pt-BR" dirty="0" err="1"/>
              <a:t>RMSProp</a:t>
            </a:r>
            <a:r>
              <a:rPr lang="pt-BR" dirty="0"/>
              <a:t>, suaviza gradientes e produz atualizações mais consistentes.</a:t>
            </a:r>
          </a:p>
          <a:p>
            <a:endParaRPr lang="pt-BR" dirty="0"/>
          </a:p>
          <a:p>
            <a:r>
              <a:rPr lang="pt-BR" dirty="0"/>
              <a:t>Em resumo, a GC não substitui esses otimizadores:</a:t>
            </a:r>
          </a:p>
          <a:p>
            <a:r>
              <a:rPr lang="pt-BR" dirty="0"/>
              <a:t>simplesmente os complementa, tornando-os mais estáveis ​​e previsíveis.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D10EA6-DC05-7A81-6664-B517C8525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7477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DF97-461A-738C-C8AD-0724EEF1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221A11-32D7-93BD-B7E1-1417F4BED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8C78CD-2AAD-6E48-5764-7CA59BEB1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GC é especialmente útil em quatro cenários.</a:t>
            </a:r>
          </a:p>
          <a:p>
            <a:endParaRPr lang="pt-BR" dirty="0"/>
          </a:p>
          <a:p>
            <a:r>
              <a:rPr lang="pt-BR" dirty="0"/>
              <a:t>Primeiro, no treinamento com lotes pequenos,</a:t>
            </a:r>
          </a:p>
          <a:p>
            <a:r>
              <a:rPr lang="pt-BR" dirty="0"/>
              <a:t>onde o </a:t>
            </a:r>
            <a:r>
              <a:rPr lang="pt-BR" dirty="0" err="1"/>
              <a:t>BatchNorm</a:t>
            </a:r>
            <a:r>
              <a:rPr lang="pt-BR" dirty="0"/>
              <a:t> não funciona bem. A GC mantém a estabilidade independentemente do tamanho do lote.</a:t>
            </a:r>
          </a:p>
          <a:p>
            <a:endParaRPr lang="pt-BR" dirty="0"/>
          </a:p>
          <a:p>
            <a:r>
              <a:rPr lang="pt-BR" dirty="0"/>
              <a:t>Segundo, em modelos </a:t>
            </a:r>
            <a:r>
              <a:rPr lang="pt-BR" dirty="0" err="1"/>
              <a:t>pré</a:t>
            </a:r>
            <a:r>
              <a:rPr lang="pt-BR" dirty="0"/>
              <a:t>-treinados,</a:t>
            </a:r>
          </a:p>
          <a:p>
            <a:r>
              <a:rPr lang="pt-BR" dirty="0"/>
              <a:t>pois pode ser aplicada diretamente no ajuste fino sem a necessidade de retreinamento.</a:t>
            </a:r>
          </a:p>
          <a:p>
            <a:endParaRPr lang="pt-BR" dirty="0"/>
          </a:p>
          <a:p>
            <a:r>
              <a:rPr lang="pt-BR" dirty="0"/>
              <a:t>Terceiro, em redes muito profundas ou com gradientes instáveis,</a:t>
            </a:r>
          </a:p>
          <a:p>
            <a:r>
              <a:rPr lang="pt-BR" dirty="0"/>
              <a:t>porque reduz a variabilidade e previne explosões de gradiente.</a:t>
            </a:r>
          </a:p>
          <a:p>
            <a:endParaRPr lang="pt-BR" dirty="0"/>
          </a:p>
          <a:p>
            <a:r>
              <a:rPr lang="pt-BR" dirty="0"/>
              <a:t>E quarto, em ambientes com recursos limitados,</a:t>
            </a:r>
          </a:p>
          <a:p>
            <a:r>
              <a:rPr lang="pt-BR" dirty="0"/>
              <a:t>porque sua implementação é extremamente leve, sem custos adicionais de memória ou tempo.</a:t>
            </a:r>
          </a:p>
          <a:p>
            <a:endParaRPr lang="pt-BR" dirty="0"/>
          </a:p>
          <a:p>
            <a:r>
              <a:rPr lang="pt-BR" dirty="0"/>
              <a:t>Portanto, a GC é considerada uma técnica ideal para ambientes práticos onde se deseja desempenho sem complexidade.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C5C5B8-2ED0-8EF3-9533-F619DE65C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5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23/10/2025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nghongwei/Gradient-Centralization" TargetMode="External"/><Relationship Id="rId2" Type="http://schemas.openxmlformats.org/officeDocument/2006/relationships/hyperlink" Target="https://arxiv.org/pdf/2004.01461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moiVtnvZnPLZXLG29" TargetMode="External"/><Relationship Id="rId2" Type="http://schemas.openxmlformats.org/officeDocument/2006/relationships/hyperlink" Target="https://github.com/Mish0404/TP558/tree/main/Seminario_Gradient_Centralization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2A87-FD77-82BB-C649-3F42BB62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079B9-FFEC-E298-CBE5-DB2822897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noProof="0" dirty="0"/>
              <a:t>TP558 - Tópicos avançados em Machine Learning:</a:t>
            </a:r>
            <a:br>
              <a:rPr lang="pt-BR" noProof="0" dirty="0"/>
            </a:br>
            <a:r>
              <a:rPr lang="pt-BR" b="1" i="1" noProof="0" dirty="0" err="1"/>
              <a:t>Gradient</a:t>
            </a:r>
            <a:r>
              <a:rPr lang="pt-BR" b="1" i="1" noProof="0" dirty="0"/>
              <a:t> </a:t>
            </a:r>
            <a:r>
              <a:rPr lang="pt-BR" b="1" i="1" noProof="0" dirty="0" err="1"/>
              <a:t>Centralization</a:t>
            </a:r>
            <a:endParaRPr lang="pt-BR" b="1" i="1" noProof="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04D2D7-94A5-86F3-F0D0-320E429D9BA0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noProof="0" dirty="0"/>
              <a:t>Brithany Michelle Oliva Chuquimia</a:t>
            </a:r>
          </a:p>
          <a:p>
            <a:r>
              <a:rPr lang="pt-BR" noProof="0" dirty="0"/>
              <a:t>brithany.oliva@mtel.inatel.br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8DB0923-7B9B-169E-9EC2-DCE9967C6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5691D46E-6423-A966-9B8C-9C23B6882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38360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  <p:par>
              <p:cTn id="3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260DC-18C2-1CBE-BAC8-AA02CBF7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AF05F-9FB9-CB7C-4269-9B6B40CC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B0734-30DE-7634-899B-0E26C06B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884" y="1690688"/>
            <a:ext cx="6179915" cy="4698537"/>
          </a:xfrm>
        </p:spPr>
        <p:txBody>
          <a:bodyPr>
            <a:normAutofit/>
          </a:bodyPr>
          <a:lstStyle/>
          <a:p>
            <a:r>
              <a:rPr lang="pt-BR" sz="2600" dirty="0"/>
              <a:t>O sucesso do aprendizado profundo (</a:t>
            </a:r>
            <a:r>
              <a:rPr lang="pt-BR" sz="2600" dirty="0" err="1"/>
              <a:t>Deep</a:t>
            </a:r>
            <a:r>
              <a:rPr lang="pt-BR" sz="2600" dirty="0"/>
              <a:t> Learning) deve-se a vários fatores: grandes volumes de dados, arquiteturas de rede e, principalmente, </a:t>
            </a:r>
            <a:r>
              <a:rPr lang="pt-BR" sz="2600" b="1" dirty="0">
                <a:solidFill>
                  <a:srgbClr val="0070C0"/>
                </a:solidFill>
              </a:rPr>
              <a:t>técnicas de otimização eficientes</a:t>
            </a:r>
            <a:r>
              <a:rPr lang="pt-BR" sz="2600" dirty="0"/>
              <a:t>, que permitem treinar redes profundas sem que o processo se torne instável ou lento.</a:t>
            </a:r>
          </a:p>
          <a:p>
            <a:r>
              <a:rPr lang="pt-BR" sz="2600" dirty="0"/>
              <a:t>Métodos como </a:t>
            </a:r>
            <a:r>
              <a:rPr lang="pt-BR" sz="2600" b="1" dirty="0" err="1">
                <a:solidFill>
                  <a:srgbClr val="0070C0"/>
                </a:solidFill>
              </a:rPr>
              <a:t>SGD</a:t>
            </a:r>
            <a:r>
              <a:rPr lang="pt-BR" sz="2600" dirty="0"/>
              <a:t>, </a:t>
            </a:r>
            <a:r>
              <a:rPr lang="pt-BR" sz="2600" b="1" dirty="0">
                <a:solidFill>
                  <a:srgbClr val="0070C0"/>
                </a:solidFill>
              </a:rPr>
              <a:t>Momentum</a:t>
            </a:r>
            <a:r>
              <a:rPr lang="pt-BR" sz="2600" dirty="0"/>
              <a:t>, </a:t>
            </a:r>
            <a:r>
              <a:rPr lang="pt-BR" sz="2600" b="1" dirty="0" err="1">
                <a:solidFill>
                  <a:srgbClr val="0070C0"/>
                </a:solidFill>
              </a:rPr>
              <a:t>Adagrad</a:t>
            </a:r>
            <a:r>
              <a:rPr lang="pt-BR" sz="2600" dirty="0"/>
              <a:t> e </a:t>
            </a:r>
            <a:r>
              <a:rPr lang="pt-BR" sz="2600" b="1" dirty="0">
                <a:solidFill>
                  <a:srgbClr val="0070C0"/>
                </a:solidFill>
              </a:rPr>
              <a:t>Adam</a:t>
            </a:r>
            <a:r>
              <a:rPr lang="pt-BR" sz="2600" dirty="0"/>
              <a:t> têm sido fundamentais para que os modelos convirjam e alcancem boa generalização.</a:t>
            </a:r>
            <a:endParaRPr lang="pt-BR" sz="26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4C6FCF-A13F-BBD8-EB49-EC7C76787C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6" r="4446"/>
          <a:stretch>
            <a:fillRect/>
          </a:stretch>
        </p:blipFill>
        <p:spPr>
          <a:xfrm>
            <a:off x="67205" y="1806435"/>
            <a:ext cx="5106678" cy="347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9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27BA-DF32-5A68-BC28-250D00A1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93F40-D402-06FE-EF2E-BBD9E175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2C9DC-371D-A5C4-A9E2-7FE32E562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690688"/>
            <a:ext cx="10310812" cy="4698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Problema principal</a:t>
            </a:r>
          </a:p>
          <a:p>
            <a:r>
              <a:rPr lang="pt-BR" sz="2600" dirty="0"/>
              <a:t>Existem técnicas que tentam estabilizar o treinamento:</a:t>
            </a:r>
          </a:p>
          <a:p>
            <a:pPr lvl="1"/>
            <a:r>
              <a:rPr lang="pt-BR" b="1" dirty="0">
                <a:solidFill>
                  <a:srgbClr val="0070C0"/>
                </a:solidFill>
              </a:rPr>
              <a:t>Batch </a:t>
            </a:r>
            <a:r>
              <a:rPr lang="pt-BR" b="1" dirty="0" err="1">
                <a:solidFill>
                  <a:srgbClr val="0070C0"/>
                </a:solidFill>
              </a:rPr>
              <a:t>Normalization</a:t>
            </a:r>
            <a:r>
              <a:rPr lang="pt-BR" b="1" dirty="0">
                <a:solidFill>
                  <a:srgbClr val="0070C0"/>
                </a:solidFill>
              </a:rPr>
              <a:t> (BN): </a:t>
            </a:r>
            <a:r>
              <a:rPr lang="pt-BR" dirty="0"/>
              <a:t>normaliza as ativações da rede.</a:t>
            </a:r>
          </a:p>
          <a:p>
            <a:pPr lvl="1"/>
            <a:r>
              <a:rPr lang="pt-BR" b="1" dirty="0" err="1">
                <a:solidFill>
                  <a:srgbClr val="0070C0"/>
                </a:solidFill>
              </a:rPr>
              <a:t>Weight</a:t>
            </a:r>
            <a:r>
              <a:rPr lang="pt-BR" b="1" dirty="0">
                <a:solidFill>
                  <a:srgbClr val="0070C0"/>
                </a:solidFill>
              </a:rPr>
              <a:t> </a:t>
            </a:r>
            <a:r>
              <a:rPr lang="pt-BR" b="1" dirty="0" err="1">
                <a:solidFill>
                  <a:srgbClr val="0070C0"/>
                </a:solidFill>
              </a:rPr>
              <a:t>Standardization</a:t>
            </a:r>
            <a:r>
              <a:rPr lang="pt-BR" b="1" dirty="0">
                <a:solidFill>
                  <a:srgbClr val="0070C0"/>
                </a:solidFill>
              </a:rPr>
              <a:t> (WS): </a:t>
            </a:r>
            <a:r>
              <a:rPr lang="pt-BR" dirty="0"/>
              <a:t>normaliza os pesos das camadas.</a:t>
            </a:r>
          </a:p>
          <a:p>
            <a:r>
              <a:rPr lang="pt-BR" sz="2600" dirty="0"/>
              <a:t>No entanto, essas técnicas atuam </a:t>
            </a:r>
            <a:r>
              <a:rPr lang="pt-BR" sz="2600" b="1" dirty="0">
                <a:solidFill>
                  <a:srgbClr val="00B050"/>
                </a:solidFill>
              </a:rPr>
              <a:t>sobre ativações ou pesos</a:t>
            </a:r>
            <a:r>
              <a:rPr lang="pt-BR" sz="2600" dirty="0"/>
              <a:t>, e não diretamente sobre os </a:t>
            </a:r>
            <a:r>
              <a:rPr lang="pt-BR" sz="2600" b="1" dirty="0">
                <a:solidFill>
                  <a:srgbClr val="00B050"/>
                </a:solidFill>
              </a:rPr>
              <a:t>gradientes</a:t>
            </a:r>
            <a:r>
              <a:rPr lang="pt-BR" sz="2600" dirty="0"/>
              <a:t>, que são o componente central no processo de aprendizado.</a:t>
            </a:r>
            <a:endParaRPr lang="es-MX" sz="2600" dirty="0"/>
          </a:p>
        </p:txBody>
      </p:sp>
    </p:spTree>
    <p:extLst>
      <p:ext uri="{BB962C8B-B14F-4D97-AF65-F5344CB8AC3E}">
        <p14:creationId xmlns:p14="http://schemas.microsoft.com/office/powerpoint/2010/main" val="304774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48F8-3A7D-6A45-C885-7B1DD3F9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20FAE-B040-98CB-BF54-F51D10B2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78F185-938E-6831-B4E2-D96BC6900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690688"/>
            <a:ext cx="10310812" cy="4698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Problema principal</a:t>
            </a:r>
          </a:p>
          <a:p>
            <a:r>
              <a:rPr lang="pt-BR" sz="2600" dirty="0"/>
              <a:t>Apesar desses avanços, o treinamento de redes neurais profundas ainda enfrenta desafios como:</a:t>
            </a:r>
          </a:p>
          <a:p>
            <a:pPr lvl="1"/>
            <a:r>
              <a:rPr lang="pt-BR" b="1" dirty="0">
                <a:solidFill>
                  <a:schemeClr val="accent2"/>
                </a:solidFill>
              </a:rPr>
              <a:t>Explosão ou desaparecimento dos gradientes </a:t>
            </a:r>
            <a:r>
              <a:rPr lang="pt-BR" dirty="0"/>
              <a:t>durante o treinamento;</a:t>
            </a:r>
          </a:p>
          <a:p>
            <a:pPr lvl="1"/>
            <a:r>
              <a:rPr lang="pt-BR" b="1" dirty="0">
                <a:solidFill>
                  <a:schemeClr val="accent2"/>
                </a:solidFill>
              </a:rPr>
              <a:t>Superfícies de perda irregulares </a:t>
            </a:r>
            <a:r>
              <a:rPr lang="pt-BR" dirty="0"/>
              <a:t>(difíceis de otimizar);</a:t>
            </a:r>
          </a:p>
          <a:p>
            <a:pPr lvl="1"/>
            <a:r>
              <a:rPr lang="pt-BR" b="1" dirty="0">
                <a:solidFill>
                  <a:schemeClr val="accent2"/>
                </a:solidFill>
              </a:rPr>
              <a:t>Desempenho instável </a:t>
            </a:r>
            <a:r>
              <a:rPr lang="pt-BR" dirty="0"/>
              <a:t>quando se utilizam lotes pequenos de dados.</a:t>
            </a:r>
          </a:p>
          <a:p>
            <a:pPr marL="0" indent="0"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9997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43E10-C417-6DD1-C5FD-84E55BE4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91324-0489-6FCF-14E6-B95D2D18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5C457-28C2-C015-21C5-1BA7C236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690688"/>
            <a:ext cx="10310812" cy="4698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Propuesta dos autores</a:t>
            </a:r>
          </a:p>
          <a:p>
            <a:r>
              <a:rPr lang="pt-BR" sz="2600" dirty="0"/>
              <a:t>Nesse contexto, </a:t>
            </a:r>
            <a:r>
              <a:rPr lang="pt-BR" sz="2600" b="1" dirty="0">
                <a:solidFill>
                  <a:srgbClr val="0070C0"/>
                </a:solidFill>
              </a:rPr>
              <a:t>o </a:t>
            </a:r>
            <a:r>
              <a:rPr lang="pt-BR" sz="2600" b="1" dirty="0" err="1">
                <a:solidFill>
                  <a:srgbClr val="0070C0"/>
                </a:solidFill>
              </a:rPr>
              <a:t>Gradient</a:t>
            </a:r>
            <a:r>
              <a:rPr lang="pt-BR" sz="2600" b="1" dirty="0">
                <a:solidFill>
                  <a:srgbClr val="0070C0"/>
                </a:solidFill>
              </a:rPr>
              <a:t> </a:t>
            </a:r>
            <a:r>
              <a:rPr lang="pt-BR" sz="2600" b="1" dirty="0" err="1">
                <a:solidFill>
                  <a:srgbClr val="0070C0"/>
                </a:solidFill>
              </a:rPr>
              <a:t>Centralization</a:t>
            </a:r>
            <a:r>
              <a:rPr lang="pt-BR" sz="2600" b="1" dirty="0">
                <a:solidFill>
                  <a:srgbClr val="0070C0"/>
                </a:solidFill>
              </a:rPr>
              <a:t> (GC) </a:t>
            </a:r>
            <a:r>
              <a:rPr lang="pt-BR" sz="2600" dirty="0"/>
              <a:t>surge como uma </a:t>
            </a:r>
            <a:r>
              <a:rPr lang="pt-BR" sz="2600" b="1" dirty="0">
                <a:solidFill>
                  <a:srgbClr val="0070C0"/>
                </a:solidFill>
              </a:rPr>
              <a:t>nova técnica de otimização</a:t>
            </a:r>
            <a:r>
              <a:rPr lang="pt-BR" sz="2600" dirty="0"/>
              <a:t> que atua diretamente sobre os </a:t>
            </a:r>
            <a:r>
              <a:rPr lang="pt-BR" sz="2600" b="1" dirty="0">
                <a:solidFill>
                  <a:srgbClr val="00B050"/>
                </a:solidFill>
              </a:rPr>
              <a:t>gradientes</a:t>
            </a:r>
            <a:r>
              <a:rPr lang="pt-BR" sz="2600" dirty="0"/>
              <a:t>.</a:t>
            </a:r>
          </a:p>
          <a:p>
            <a:r>
              <a:rPr lang="pt-BR" sz="2600" dirty="0"/>
              <a:t>A ideia central é simples, mas poderosa:</a:t>
            </a:r>
          </a:p>
          <a:p>
            <a:pPr marL="0" indent="0">
              <a:buNone/>
            </a:pPr>
            <a:endParaRPr lang="pt-BR" sz="2600" dirty="0"/>
          </a:p>
          <a:p>
            <a:pPr marL="0" indent="0" algn="ctr">
              <a:buNone/>
            </a:pPr>
            <a:r>
              <a:rPr lang="pt-BR" b="1" i="1" dirty="0">
                <a:solidFill>
                  <a:srgbClr val="7030A0"/>
                </a:solidFill>
              </a:rPr>
              <a:t>“Centralizar os gradientes para que tenham média zero antes de atualizar os pesos.”</a:t>
            </a:r>
            <a:endParaRPr lang="pt-BR" b="1" i="1" noProof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7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D96D-7E56-4682-649A-00956859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68107-1A75-7662-5E7E-C34AB93A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64905-E002-90C3-FF40-1175CC52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690688"/>
            <a:ext cx="10310812" cy="4698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Propuesta dos autores</a:t>
            </a:r>
          </a:p>
          <a:p>
            <a:pPr marL="0" indent="0" algn="ctr">
              <a:buNone/>
            </a:pPr>
            <a:r>
              <a:rPr lang="pt-BR" b="1" dirty="0">
                <a:solidFill>
                  <a:srgbClr val="7030A0"/>
                </a:solidFill>
              </a:rPr>
              <a:t>“Centralizar os gradientes para que tenham média zero antes de atualizar os pesos.”</a:t>
            </a:r>
          </a:p>
          <a:p>
            <a:r>
              <a:rPr lang="pt-BR" sz="2600" dirty="0"/>
              <a:t>Isso permite: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Suavizar o panorama de otimização (a função de perda torna-se mais estável);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Acelerar a convergência;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dirty="0"/>
              <a:t>Melhorar a capacidade de generalização do modelo;</a:t>
            </a:r>
          </a:p>
          <a:p>
            <a:r>
              <a:rPr lang="pt-BR" sz="2600" dirty="0"/>
              <a:t>atuando diretamente sobre os </a:t>
            </a:r>
            <a:r>
              <a:rPr lang="pt-BR" sz="2600" b="1" dirty="0">
                <a:solidFill>
                  <a:srgbClr val="00B050"/>
                </a:solidFill>
              </a:rPr>
              <a:t>gradientes</a:t>
            </a:r>
            <a:r>
              <a:rPr lang="pt-BR" sz="2600" dirty="0"/>
              <a:t>, que são o componente central no processo de aprendizado.</a:t>
            </a:r>
            <a:endParaRPr lang="es-MX" sz="2600" dirty="0"/>
          </a:p>
          <a:p>
            <a:pPr marL="0" indent="0">
              <a:buNone/>
            </a:pP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10998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E692-30D9-43B0-1BCA-CC9BF6EC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ABB5C-8A1E-5D31-C1C9-575DA617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CE91EE-700E-13A7-02E6-A13C25943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690688"/>
            <a:ext cx="5878673" cy="46985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/>
              <a:t>Objetivo general</a:t>
            </a:r>
          </a:p>
          <a:p>
            <a:r>
              <a:rPr lang="pt-BR" sz="2600" dirty="0"/>
              <a:t>O objetivo do </a:t>
            </a:r>
            <a:r>
              <a:rPr lang="pt-BR" sz="2600" dirty="0" err="1"/>
              <a:t>Gradient</a:t>
            </a:r>
            <a:r>
              <a:rPr lang="pt-BR" sz="2600" dirty="0"/>
              <a:t> </a:t>
            </a:r>
            <a:r>
              <a:rPr lang="pt-BR" sz="2600" dirty="0" err="1"/>
              <a:t>Centralization</a:t>
            </a:r>
            <a:r>
              <a:rPr lang="pt-BR" sz="2600" dirty="0"/>
              <a:t> (GC) é </a:t>
            </a:r>
            <a:r>
              <a:rPr lang="pt-BR" sz="2600" b="1" dirty="0">
                <a:solidFill>
                  <a:srgbClr val="0070C0"/>
                </a:solidFill>
              </a:rPr>
              <a:t>regularizar o espaço dos pesos e das características de saída</a:t>
            </a:r>
            <a:r>
              <a:rPr lang="pt-BR" sz="2600" dirty="0"/>
              <a:t>, tornando o aprendizado mais estável, rápido e com melhor capacidade de generalização. Em resumo:</a:t>
            </a:r>
          </a:p>
          <a:p>
            <a:r>
              <a:rPr lang="pt-BR" sz="2600" dirty="0"/>
              <a:t>O GC busca “</a:t>
            </a:r>
            <a:r>
              <a:rPr lang="pt-BR" sz="2600" b="1" dirty="0">
                <a:solidFill>
                  <a:srgbClr val="00B050"/>
                </a:solidFill>
              </a:rPr>
              <a:t>centralizar</a:t>
            </a:r>
            <a:r>
              <a:rPr lang="pt-BR" sz="2600" dirty="0"/>
              <a:t>” o processo de aprendizado em uma região mais suave e controlada do espaço de parâmetros, melhorando o treinamento sem precisar alterar a arquitetura da rede nem adicionar novos </a:t>
            </a:r>
            <a:r>
              <a:rPr lang="pt-BR" sz="2600" dirty="0" err="1"/>
              <a:t>hiperparâmetros</a:t>
            </a:r>
            <a:r>
              <a:rPr lang="pt-BR" sz="2600" dirty="0"/>
              <a:t>.</a:t>
            </a:r>
          </a:p>
          <a:p>
            <a:pPr marL="0" indent="0">
              <a:buNone/>
            </a:pPr>
            <a:endParaRPr lang="pt-BR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C0C166-3561-6317-3C1E-13E984D4C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86" y="2233913"/>
            <a:ext cx="5024514" cy="275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95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7A4D-DB2D-5C18-2DCA-FF3E2D8A7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7EB86-1C4F-3F33-95CF-8BD2D374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F607D2-4B5C-DD04-6E76-5C45D3C8F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825625"/>
            <a:ext cx="107108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 err="1"/>
              <a:t>Gradient</a:t>
            </a:r>
            <a:r>
              <a:rPr lang="es-MX" b="1" dirty="0"/>
              <a:t> </a:t>
            </a:r>
            <a:r>
              <a:rPr lang="es-MX" b="1" dirty="0" err="1"/>
              <a:t>Centralization</a:t>
            </a:r>
            <a:r>
              <a:rPr lang="es-MX" b="1" dirty="0"/>
              <a:t> (</a:t>
            </a:r>
            <a:r>
              <a:rPr lang="es-MX" b="1" dirty="0" err="1"/>
              <a:t>GC</a:t>
            </a:r>
            <a:r>
              <a:rPr lang="es-MX" b="1" dirty="0"/>
              <a:t>)</a:t>
            </a:r>
            <a:r>
              <a:rPr lang="es-MX" dirty="0"/>
              <a:t> </a:t>
            </a:r>
          </a:p>
          <a:p>
            <a:r>
              <a:rPr lang="pt-BR" sz="2600" dirty="0"/>
              <a:t>É uma técnica de otimização que </a:t>
            </a:r>
            <a:r>
              <a:rPr lang="pt-BR" sz="2600" b="1" dirty="0">
                <a:solidFill>
                  <a:srgbClr val="0070C0"/>
                </a:solidFill>
              </a:rPr>
              <a:t>modifica diretamente os gradientes </a:t>
            </a:r>
            <a:r>
              <a:rPr lang="pt-BR" sz="2600" dirty="0"/>
              <a:t>durante o treinamento de uma rede neural.</a:t>
            </a:r>
          </a:p>
          <a:p>
            <a:r>
              <a:rPr lang="pt-BR" sz="2600" dirty="0"/>
              <a:t>Seu princípio é simples:</a:t>
            </a:r>
          </a:p>
          <a:p>
            <a:pPr marL="0" indent="0" algn="ctr">
              <a:buNone/>
            </a:pPr>
            <a:r>
              <a:rPr lang="pt-BR" sz="2600" b="1" i="1" dirty="0">
                <a:solidFill>
                  <a:srgbClr val="00B050"/>
                </a:solidFill>
              </a:rPr>
              <a:t>Antes de atualizar os pesos, remove-se a média de cada vetor de gradiente, de modo que ele tenha média zero.</a:t>
            </a:r>
          </a:p>
          <a:p>
            <a:r>
              <a:rPr lang="pt-BR" sz="2600" dirty="0"/>
              <a:t>Isso gera um gradiente mais equilibrado, que melhora a estabilidade e a capacidade de generalização do modelo. </a:t>
            </a:r>
          </a:p>
        </p:txBody>
      </p:sp>
    </p:spTree>
    <p:extLst>
      <p:ext uri="{BB962C8B-B14F-4D97-AF65-F5344CB8AC3E}">
        <p14:creationId xmlns:p14="http://schemas.microsoft.com/office/powerpoint/2010/main" val="307701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EF852-AF4A-9E63-612E-C59823D5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627A1-9F20-1618-5856-2B2D091C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FB73E8E-2445-3851-2898-0D6B4A3D5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600" dirty="0"/>
                  <a:t>Em cada etapa do treinamento, o otimizador (por exemplo, </a:t>
                </a:r>
                <a:r>
                  <a:rPr lang="pt-BR" sz="2600" dirty="0" err="1"/>
                  <a:t>SGD</a:t>
                </a:r>
                <a:r>
                  <a:rPr lang="pt-BR" sz="2600" dirty="0"/>
                  <a:t> ou Adam) calcula o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gradiente do erro </a:t>
                </a:r>
                <a:r>
                  <a:rPr lang="pt-BR" sz="2600" dirty="0"/>
                  <a:t>em relação aos pesos.</a:t>
                </a:r>
              </a:p>
              <a:p>
                <a:r>
                  <a:rPr lang="pt-BR" sz="2600" dirty="0"/>
                  <a:t>Esse gradiente indica quanto e em que direção cada peso deve ser ajustado.</a:t>
                </a:r>
              </a:p>
              <a:p>
                <a:r>
                  <a:rPr lang="pt-BR" sz="2600" dirty="0"/>
                  <a:t>O </a:t>
                </a:r>
                <a:r>
                  <a:rPr lang="pt-BR" sz="2600" dirty="0" err="1"/>
                  <a:t>Gradient</a:t>
                </a:r>
                <a:r>
                  <a:rPr lang="pt-BR" sz="2600" dirty="0"/>
                  <a:t> </a:t>
                </a:r>
                <a:r>
                  <a:rPr lang="pt-BR" sz="2600" dirty="0" err="1"/>
                  <a:t>Centralization</a:t>
                </a:r>
                <a:r>
                  <a:rPr lang="pt-BR" sz="2600" dirty="0"/>
                  <a:t> consiste em </a:t>
                </a:r>
                <a:r>
                  <a:rPr lang="pt-BR" sz="2600" b="1" dirty="0">
                    <a:solidFill>
                      <a:srgbClr val="00B050"/>
                    </a:solidFill>
                  </a:rPr>
                  <a:t>remover a média do gradiente </a:t>
                </a:r>
                <a:r>
                  <a:rPr lang="pt-BR" sz="2600" dirty="0"/>
                  <a:t>antes de utilizá-lo, para mantê-lo centralizado:</a:t>
                </a:r>
                <a:r>
                  <a:rPr lang="es-MX" sz="2600" dirty="0"/>
                  <a:t> </a:t>
                </a:r>
              </a:p>
              <a:p>
                <a:pPr marL="0" indent="0">
                  <a:buNone/>
                </a:pPr>
                <a:endParaRPr lang="es-MX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sz="2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BO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6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s-MX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sz="26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s-MX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s-MX" sz="2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s-MX" sz="26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ar-AE" sz="26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600" b="0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̂"/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BO" sz="2600" i="1"/>
                        <m:t>media</m:t>
                      </m:r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s-MX" sz="2600" dirty="0"/>
              </a:p>
              <a:p>
                <a:pPr marL="0" indent="0">
                  <a:buNone/>
                </a:pPr>
                <a:endParaRPr lang="ar-AE" sz="1200" dirty="0"/>
              </a:p>
              <a:p>
                <a:r>
                  <a:rPr lang="pt-BR" sz="2600" dirty="0"/>
                  <a:t>Dessa forma, a atualização dos pesos torna-se mais equilibrada e estável.</a:t>
                </a:r>
                <a:endParaRPr lang="es-MX" sz="26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FB73E8E-2445-3851-2898-0D6B4A3D5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853" t="-21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802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B629-F8D6-3D06-8A6F-5267C65D1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29349-E2A7-6061-3CDD-959A0EB1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D486E7E-3526-971B-A24E-B3449D5B09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r>
                  <a:rPr lang="es-BO" sz="26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26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ar-AE" sz="2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BO" sz="2600" dirty="0"/>
                  <a:t> representa o gradiente da </a:t>
                </a:r>
                <a:r>
                  <a:rPr lang="es-BO" sz="2600" dirty="0" err="1"/>
                  <a:t>perda</a:t>
                </a:r>
                <a:r>
                  <a:rPr lang="es-BO" sz="2600" dirty="0"/>
                  <a:t> </a:t>
                </a:r>
                <a14:m>
                  <m:oMath xmlns:m="http://schemas.openxmlformats.org/officeDocument/2006/math">
                    <m:r>
                      <a:rPr lang="es-BO" sz="2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BO" sz="2600" dirty="0"/>
                  <a:t> </a:t>
                </a:r>
                <a:r>
                  <a:rPr lang="pt-BR" sz="2600" dirty="0"/>
                  <a:t>em relação ao vetor de pesos</a:t>
                </a:r>
                <a:r>
                  <a:rPr lang="es-BO" sz="2600" dirty="0"/>
                  <a:t> </a:t>
                </a:r>
                <a14:m>
                  <m:oMath xmlns:m="http://schemas.openxmlformats.org/officeDocument/2006/math">
                    <m:r>
                      <a:rPr lang="es-BO" sz="26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s-BO" sz="2600" dirty="0"/>
                  <a:t>, </a:t>
                </a:r>
                <a:r>
                  <a:rPr lang="pt-BR" sz="2600" dirty="0"/>
                  <a:t>então o operador de </a:t>
                </a:r>
                <a:r>
                  <a:rPr lang="pt-BR" sz="2600" i="1" dirty="0" err="1"/>
                  <a:t>Gradient</a:t>
                </a:r>
                <a:r>
                  <a:rPr lang="pt-BR" sz="2600" i="1" dirty="0"/>
                  <a:t> </a:t>
                </a:r>
                <a:r>
                  <a:rPr lang="pt-BR" sz="2600" i="1" dirty="0" err="1"/>
                  <a:t>Centralization</a:t>
                </a:r>
                <a:r>
                  <a:rPr lang="pt-BR" sz="2600" i="1" dirty="0"/>
                  <a:t> </a:t>
                </a:r>
                <a:r>
                  <a:rPr lang="pt-BR" sz="2600" dirty="0"/>
                  <a:t>é definido como</a:t>
                </a:r>
                <a:r>
                  <a:rPr lang="es-BO" sz="2600" dirty="0"/>
                  <a:t>:</a:t>
                </a:r>
              </a:p>
              <a:p>
                <a:pPr marL="0" indent="0">
                  <a:buNone/>
                </a:pPr>
                <a:endParaRPr lang="es-BO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6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ar-AE" sz="26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s-BO" sz="2600" dirty="0"/>
                  <a:t>onde: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ar-AE" sz="2600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ar-AE" sz="2600" dirty="0"/>
              </a:p>
              <a:p>
                <a:r>
                  <a:rPr lang="pt-BR" sz="2600" dirty="0"/>
                  <a:t>O resultado é um </a:t>
                </a:r>
                <a:r>
                  <a:rPr lang="pt-BR" sz="2600" b="1" dirty="0">
                    <a:solidFill>
                      <a:srgbClr val="00B050"/>
                    </a:solidFill>
                  </a:rPr>
                  <a:t>novo gradiente centralizado</a:t>
                </a:r>
                <a:r>
                  <a:rPr lang="pt-BR" sz="2600" dirty="0"/>
                  <a:t>, com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média zero em cada vetor de peso</a:t>
                </a:r>
                <a:r>
                  <a:rPr lang="es-BO" sz="2600" dirty="0"/>
                  <a:t>.</a:t>
                </a:r>
              </a:p>
              <a:p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D486E7E-3526-971B-A24E-B3449D5B0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1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02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EE49-CCCD-C3BE-C124-55EAEB35C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CD099-CA2C-83DC-6C1E-28D9272E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DA8988F-3F90-9059-2993-876808273B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476495"/>
                <a:ext cx="10710862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pt-BR" sz="2600" b="1" noProof="0" dirty="0"/>
                  <a:t>Exemplo simples</a:t>
                </a:r>
              </a:p>
              <a:p>
                <a:r>
                  <a:rPr lang="pt-BR" sz="2600" noProof="0" dirty="0"/>
                  <a:t>Suponha que, em uma camada, você tenha </a:t>
                </a:r>
                <a:r>
                  <a:rPr lang="pt-BR" sz="2600" b="1" noProof="0" dirty="0">
                    <a:solidFill>
                      <a:srgbClr val="0070C0"/>
                    </a:solidFill>
                  </a:rPr>
                  <a:t>3 pesos </a:t>
                </a:r>
                <a:r>
                  <a:rPr lang="pt-BR" sz="2600" noProof="0" dirty="0"/>
                  <a:t>e o gradiente calculado em uma iteração seja: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noProof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0" noProof="0" smtClean="0">
                          <a:latin typeface="Cambria Math" panose="02040503050406030204" pitchFamily="18" charset="0"/>
                        </a:rPr>
                        <m:t>[2,4,6]</m:t>
                      </m:r>
                    </m:oMath>
                  </m:oMathPara>
                </a14:m>
                <a:endParaRPr lang="pt-BR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400" noProof="0" smtClean="0"/>
                        <m:t>media</m:t>
                      </m:r>
                      <m:d>
                        <m:d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pt-BR" sz="2400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noProof="0" smtClean="0">
                              <a:latin typeface="Cambria Math" panose="02040503050406030204" pitchFamily="18" charset="0"/>
                            </a:rPr>
                            <m:t>2+4+6</m:t>
                          </m:r>
                        </m:e>
                      </m:d>
                      <m:r>
                        <a:rPr lang="pt-BR" sz="2400" noProof="0" smtClean="0">
                          <a:latin typeface="Cambria Math" panose="02040503050406030204" pitchFamily="18" charset="0"/>
                        </a:rPr>
                        <m:t>/3=4</m:t>
                      </m:r>
                    </m:oMath>
                  </m:oMathPara>
                </a14:m>
                <a:endParaRPr lang="pt-BR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pt-BR" sz="240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noProof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noProof="0" smtClean="0">
                          <a:latin typeface="Cambria Math" panose="02040503050406030204" pitchFamily="18" charset="0"/>
                        </a:rPr>
                        <m:t>−4=</m:t>
                      </m:r>
                      <m:r>
                        <a:rPr lang="pt-BR" sz="2400" b="0" i="1" noProof="0" smtClean="0">
                          <a:latin typeface="Cambria Math" panose="02040503050406030204" pitchFamily="18" charset="0"/>
                        </a:rPr>
                        <m:t>[−2,0,2]</m:t>
                      </m:r>
                    </m:oMath>
                  </m:oMathPara>
                </a14:m>
                <a:endParaRPr lang="pt-BR" sz="2400" noProof="0" dirty="0"/>
              </a:p>
              <a:p>
                <a:pPr marL="0" indent="0">
                  <a:buNone/>
                </a:pPr>
                <a:r>
                  <a:rPr lang="pt-BR" sz="2600" b="1" noProof="0" dirty="0"/>
                  <a:t>Resultado:</a:t>
                </a:r>
                <a:endParaRPr lang="pt-BR" sz="2600" noProof="0" dirty="0"/>
              </a:p>
              <a:p>
                <a:r>
                  <a:rPr lang="pt-BR" sz="2600" noProof="0" dirty="0"/>
                  <a:t>O novo gradiente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6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600" i="1" noProof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pt-BR" sz="26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600" noProof="0" dirty="0"/>
                  <a:t>tem média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s-MX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t-BR" sz="2400">
                          <a:latin typeface="Cambria Math" panose="02040503050406030204" pitchFamily="18" charset="0"/>
                        </a:rPr>
                        <m:t>/3</m:t>
                      </m:r>
                      <m:r>
                        <a:rPr lang="pt-BR" sz="2400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noProof="0" dirty="0"/>
              </a:p>
              <a:p>
                <a:r>
                  <a:rPr lang="pt-BR" sz="2000" noProof="0" dirty="0"/>
                  <a:t>As atualizações ficam </a:t>
                </a:r>
                <a:r>
                  <a:rPr lang="pt-BR" sz="2000" b="1" noProof="0" dirty="0">
                    <a:solidFill>
                      <a:srgbClr val="0070C0"/>
                    </a:solidFill>
                  </a:rPr>
                  <a:t>mais equilibradas</a:t>
                </a:r>
                <a:r>
                  <a:rPr lang="pt-BR" sz="2000" noProof="0" dirty="0"/>
                  <a:t>:</a:t>
                </a:r>
              </a:p>
              <a:p>
                <a:pPr lvl="1"/>
                <a:r>
                  <a:rPr lang="pt-BR" sz="2000" noProof="0" dirty="0"/>
                  <a:t>um peso aumenta (+2),</a:t>
                </a:r>
              </a:p>
              <a:p>
                <a:pPr lvl="1"/>
                <a:r>
                  <a:rPr lang="pt-BR" sz="2000" noProof="0" dirty="0"/>
                  <a:t>outro diminui (-2),</a:t>
                </a:r>
              </a:p>
              <a:p>
                <a:pPr lvl="1"/>
                <a:r>
                  <a:rPr lang="pt-BR" sz="2000" noProof="0" dirty="0"/>
                  <a:t>E outro permanece igual (0).</a:t>
                </a:r>
                <a:endParaRPr lang="pt-BR" sz="2000" b="0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DA8988F-3F90-9059-2993-876808273B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476495"/>
                <a:ext cx="10710862" cy="4351338"/>
              </a:xfrm>
              <a:blipFill>
                <a:blip r:embed="rId3"/>
                <a:stretch>
                  <a:fillRect l="-1024" t="-2101" b="-17087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57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2E13-3148-2F2B-4169-A9D292C3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8CBC0-B97C-6BB4-26B1-5643D6D0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DA3A240-22EE-7977-E83B-6E7CEEF00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2600" b="1" noProof="0" dirty="0"/>
                  <a:t>Formulação matricial</a:t>
                </a:r>
              </a:p>
              <a:p>
                <a:r>
                  <a:rPr lang="pt-BR" sz="2600" noProof="0" dirty="0"/>
                  <a:t>Para uma camada totalmente conectada ou convolucional, a formulação pode ser escrita de forma compacta: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600" noProof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600" noProof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pt-BR" sz="2600" i="1" noProof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pt-BR" sz="260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60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600" noProof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pt-BR" sz="2600" i="1" noProof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600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60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60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600" i="1" noProof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600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600" i="1" noProof="0" smtClean="0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60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pt-BR" sz="2600" noProof="0" dirty="0"/>
              </a:p>
              <a:p>
                <a:pPr marL="0" indent="0">
                  <a:buNone/>
                </a:pPr>
                <a:r>
                  <a:rPr lang="pt-BR" sz="2600" noProof="0" dirty="0"/>
                  <a:t>onde</a:t>
                </a:r>
                <a:r>
                  <a:rPr lang="pt-BR" noProof="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pt-BR" noProof="0" dirty="0"/>
                  <a:t> : matriz identidade,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t-BR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i="1" noProof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pt-BR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pt-BR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pt-BR" noProof="0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pt-BR" noProof="0" dirty="0"/>
                  <a:t> : </a:t>
                </a:r>
                <a:r>
                  <a:rPr lang="pt-BR" b="1" dirty="0">
                    <a:solidFill>
                      <a:srgbClr val="0070C0"/>
                    </a:solidFill>
                  </a:rPr>
                  <a:t>matriz de projeção </a:t>
                </a:r>
                <a:r>
                  <a:rPr lang="pt-BR" dirty="0"/>
                  <a:t>que remove o componente médio do gradiente</a:t>
                </a:r>
                <a:r>
                  <a:rPr lang="pt-BR" noProof="0" dirty="0"/>
                  <a:t>.</a:t>
                </a:r>
              </a:p>
              <a:p>
                <a:pPr marL="0" indent="0">
                  <a:buNone/>
                </a:pPr>
                <a:r>
                  <a:rPr lang="pt-BR" sz="2400" noProof="0" dirty="0"/>
                  <a:t>Isso significa que o GC atua como uma projeção linear do gradiente sobre um hiperplano em que a soma dos componentes do gradiente é zero.</a:t>
                </a:r>
                <a:endParaRPr lang="pt-BR" sz="3200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DA3A240-22EE-7977-E83B-6E7CEEF00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101" b="-14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405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CF30-828E-0DA6-8EB4-39529356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05908-B654-BE5A-DBD5-1B83AA14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99A588F-0E24-AA08-39B2-4266030348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2600" b="1" dirty="0"/>
                  <a:t>O que acontece se o gradiente for uma matriz?</a:t>
                </a:r>
                <a:endParaRPr lang="es-MX" sz="2600" b="1" dirty="0"/>
              </a:p>
              <a:p>
                <a:r>
                  <a:rPr lang="pt-BR" sz="2600" dirty="0"/>
                  <a:t>Nas redes neurais, os gradientes dos pesos geralmente são organizados em forma de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matriz</a:t>
                </a:r>
                <a:r>
                  <a:rPr lang="pt-BR" sz="2600" dirty="0"/>
                  <a:t>, onde cada </a:t>
                </a:r>
                <a:r>
                  <a:rPr lang="pt-BR" sz="2600" b="1" dirty="0">
                    <a:solidFill>
                      <a:srgbClr val="7030A0"/>
                    </a:solidFill>
                  </a:rPr>
                  <a:t>linha</a:t>
                </a:r>
                <a:r>
                  <a:rPr lang="pt-BR" sz="2600" dirty="0"/>
                  <a:t> corresponde a uma </a:t>
                </a:r>
                <a:r>
                  <a:rPr lang="pt-BR" sz="2600" b="1" dirty="0">
                    <a:solidFill>
                      <a:srgbClr val="7030A0"/>
                    </a:solidFill>
                  </a:rPr>
                  <a:t>entrada</a:t>
                </a:r>
                <a:r>
                  <a:rPr lang="pt-BR" sz="2600" dirty="0"/>
                  <a:t> e cada </a:t>
                </a:r>
                <a:r>
                  <a:rPr lang="pt-BR" sz="2600" b="1" dirty="0">
                    <a:solidFill>
                      <a:schemeClr val="accent6"/>
                    </a:solidFill>
                  </a:rPr>
                  <a:t>coluna</a:t>
                </a:r>
                <a:r>
                  <a:rPr lang="pt-BR" sz="2600" dirty="0"/>
                  <a:t> a um neurônio de </a:t>
                </a:r>
                <a:r>
                  <a:rPr lang="pt-BR" sz="2600" b="1" dirty="0">
                    <a:solidFill>
                      <a:schemeClr val="accent6"/>
                    </a:solidFill>
                  </a:rPr>
                  <a:t>saída</a:t>
                </a:r>
                <a:r>
                  <a:rPr lang="pt-BR" sz="2600" dirty="0"/>
                  <a:t>.</a:t>
                </a:r>
              </a:p>
              <a:p>
                <a:r>
                  <a:rPr lang="pt-BR" sz="2600" dirty="0"/>
                  <a:t>Suponha uma camada com 2 entradas e 3 neurônios de saída. O gradiente calculado para essa camada é:</a:t>
                </a:r>
                <a:endParaRPr lang="es-MX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sz="26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6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 sz="26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6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 sz="26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ar-AE" sz="260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600" dirty="0"/>
              </a:p>
              <a:p>
                <a:r>
                  <a:rPr lang="pt-BR" sz="2600" dirty="0"/>
                  <a:t>Cada coluna representa os gradientes dos pesos que chegam a um neurônio</a:t>
                </a:r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99A588F-0E24-AA08-39B2-426603034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101" r="-1138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354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D425C-DAED-8401-FD0C-49E94065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49973-EEBB-6C19-38EB-E9272DD0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A9D3043-D8B3-4DF3-50DE-93900DBD83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MX" b="1" dirty="0" err="1"/>
                  <a:t>Passo</a:t>
                </a:r>
                <a:r>
                  <a:rPr lang="es-MX" b="1" dirty="0"/>
                  <a:t> 1.</a:t>
                </a:r>
                <a:r>
                  <a:rPr lang="es-MX" dirty="0"/>
                  <a:t> </a:t>
                </a:r>
                <a:r>
                  <a:rPr lang="pt-BR" dirty="0"/>
                  <a:t>Calculamos a média de cada coluna</a:t>
                </a:r>
                <a:r>
                  <a:rPr lang="es-MX" dirty="0"/>
                  <a:t>:</a:t>
                </a:r>
              </a:p>
              <a:p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pPr marL="0" indent="0">
                  <a:buNone/>
                </a:pPr>
                <a:endParaRPr lang="es-MX" dirty="0"/>
              </a:p>
              <a:p>
                <a:r>
                  <a:rPr lang="es-BO" b="1" dirty="0" err="1"/>
                  <a:t>Passo</a:t>
                </a:r>
                <a:r>
                  <a:rPr lang="es-BO" b="1" dirty="0"/>
                  <a:t> 2.</a:t>
                </a:r>
                <a:r>
                  <a:rPr lang="es-BO" dirty="0"/>
                  <a:t> </a:t>
                </a:r>
                <a:r>
                  <a:rPr lang="pt-BR" dirty="0"/>
                  <a:t>Subtraímos essa média de cada elemento da coluna</a:t>
                </a:r>
                <a:r>
                  <a:rPr lang="es-B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pt-BR" dirty="0"/>
                  <a:t>Agora, </a:t>
                </a:r>
                <a:r>
                  <a:rPr lang="pt-BR" b="1" dirty="0">
                    <a:solidFill>
                      <a:srgbClr val="0070C0"/>
                    </a:solidFill>
                  </a:rPr>
                  <a:t>cada coluna tem média zero</a:t>
                </a:r>
                <a:r>
                  <a:rPr lang="es-BO" b="1" dirty="0"/>
                  <a:t>.</a:t>
                </a:r>
                <a:endParaRPr lang="es-BO" dirty="0"/>
              </a:p>
              <a:p>
                <a:r>
                  <a:rPr lang="pt-BR" dirty="0"/>
                  <a:t>É exatamente isso que o </a:t>
                </a:r>
                <a:r>
                  <a:rPr lang="pt-BR" b="1" dirty="0"/>
                  <a:t>GC faz na prática</a:t>
                </a:r>
                <a:r>
                  <a:rPr lang="pt-BR" dirty="0"/>
                  <a:t>:</a:t>
                </a:r>
                <a:br>
                  <a:rPr lang="pt-BR" dirty="0"/>
                </a:br>
                <a:r>
                  <a:rPr lang="pt-BR" b="1" dirty="0">
                    <a:solidFill>
                      <a:srgbClr val="00B050"/>
                    </a:solidFill>
                  </a:rPr>
                  <a:t>centraliza cada vetor de gradiente coluna por coluna</a:t>
                </a:r>
                <a:r>
                  <a:rPr lang="pt-BR" dirty="0">
                    <a:solidFill>
                      <a:srgbClr val="00B050"/>
                    </a:solidFill>
                  </a:rPr>
                  <a:t>, </a:t>
                </a:r>
                <a:r>
                  <a:rPr lang="pt-BR" b="1" dirty="0">
                    <a:solidFill>
                      <a:srgbClr val="00B050"/>
                    </a:solidFill>
                  </a:rPr>
                  <a:t>equilibrando as atualizações para cada neurônio</a:t>
                </a:r>
                <a:r>
                  <a:rPr lang="es-BO" dirty="0">
                    <a:solidFill>
                      <a:srgbClr val="00B050"/>
                    </a:solidFill>
                  </a:rPr>
                  <a:t>.</a:t>
                </a:r>
              </a:p>
              <a:p>
                <a:endParaRPr lang="es-MX" dirty="0"/>
              </a:p>
              <a:p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A9D3043-D8B3-4DF3-50DE-93900DBD8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853" t="-2801" b="-364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6E1246B-0989-F338-DFFE-A0379877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242172"/>
              </p:ext>
            </p:extLst>
          </p:nvPr>
        </p:nvGraphicFramePr>
        <p:xfrm>
          <a:off x="7337385" y="1436045"/>
          <a:ext cx="4016415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7939">
                  <a:extLst>
                    <a:ext uri="{9D8B030D-6E8A-4147-A177-3AD203B41FA5}">
                      <a16:colId xmlns:a16="http://schemas.microsoft.com/office/drawing/2014/main" val="3977232242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1233327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 dirty="0"/>
                        <a:t>Columna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/>
                        <a:t>Promedio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7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/>
                        <a:t>(1+2)/2 = 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90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 dirty="0"/>
                        <a:t>(3+4)/2 = 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815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400" dirty="0"/>
                        <a:t>(5+6)/2 = 5.5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600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120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2DB7E-ED33-D7DC-A161-EB93F5B2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06E31-0E9A-57DE-CCF2-D77573F5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F42D7B4-3EEC-E5F7-F109-85126D944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BO" sz="2600" b="1" dirty="0" err="1"/>
                  <a:t>Interpretação</a:t>
                </a:r>
                <a:r>
                  <a:rPr lang="es-BO" sz="2600" b="1" dirty="0"/>
                  <a:t> geométrica</a:t>
                </a:r>
              </a:p>
              <a:p>
                <a:r>
                  <a:rPr lang="pt-BR" sz="2600" dirty="0"/>
                  <a:t>Do ponto de vista geométrico, o gradiente centralizado</a:t>
                </a:r>
                <a:endParaRPr lang="es-BO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6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es-BO" sz="2600" dirty="0"/>
              </a:p>
              <a:p>
                <a:pPr marL="266700" indent="0">
                  <a:buNone/>
                </a:pPr>
                <a:r>
                  <a:rPr lang="pt-BR" sz="2600" dirty="0"/>
                  <a:t>pode ser interpretado como uma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projeção do gradiente original sobre um subespaço</a:t>
                </a:r>
                <a:r>
                  <a:rPr lang="pt-BR" sz="2600" dirty="0"/>
                  <a:t> do espaço de parâmetros</a:t>
                </a:r>
                <a:r>
                  <a:rPr lang="es-BO" sz="2600" dirty="0"/>
                  <a:t>.</a:t>
                </a:r>
              </a:p>
              <a:p>
                <a:r>
                  <a:rPr lang="pt-BR" sz="2600" dirty="0"/>
                  <a:t>A atualização dos pesos ocorre dentro desse subespaço, o que </a:t>
                </a:r>
                <a:r>
                  <a:rPr lang="pt-BR" sz="2600" b="1" dirty="0">
                    <a:solidFill>
                      <a:srgbClr val="00B050"/>
                    </a:solidFill>
                  </a:rPr>
                  <a:t>impõe uma restrição de equilíbrio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 </a:t>
                </a:r>
                <a:r>
                  <a:rPr lang="pt-BR" sz="2600" dirty="0"/>
                  <a:t>nas variações dos parâmetros.</a:t>
                </a:r>
                <a:endParaRPr lang="es-BO" sz="2600" dirty="0"/>
              </a:p>
              <a:p>
                <a:pPr marL="0" indent="0">
                  <a:buNone/>
                </a:pPr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F42D7B4-3EEC-E5F7-F109-85126D944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1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49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B07CE-8F70-F948-068B-26754555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8D34C-132C-7E45-1598-9736F1CA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A44E2C9-1EB6-60DA-68EC-1925482B2F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BO" sz="2600" b="1" dirty="0" err="1"/>
                  <a:t>Interpretação</a:t>
                </a:r>
                <a:r>
                  <a:rPr lang="es-BO" sz="2600" b="1" dirty="0"/>
                  <a:t> geométrica</a:t>
                </a:r>
              </a:p>
              <a:p>
                <a:r>
                  <a:rPr lang="es-BO" sz="2600" dirty="0"/>
                  <a:t>E</a:t>
                </a:r>
                <a:r>
                  <a:rPr lang="pt-BR" sz="2600" dirty="0"/>
                  <a:t>m termos matemáticos, isso equivale a resolver um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problema de otimização com restrição linear</a:t>
                </a:r>
                <a:r>
                  <a:rPr lang="es-BO" sz="2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BO" sz="2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ar-AE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</m:e>
                        <m:lim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lim>
                      </m:limLow>
                      <m:r>
                        <m:rPr>
                          <m:nor/>
                        </m:rPr>
                        <a:rPr lang="es-BO" sz="2600" i="1"/>
                        <m:t>suje</m:t>
                      </m:r>
                      <m:r>
                        <m:rPr>
                          <m:nor/>
                        </m:rPr>
                        <a:rPr lang="es-MX" sz="2600" b="0" i="1" smtClean="0"/>
                        <m:t>i</m:t>
                      </m:r>
                      <m:r>
                        <m:rPr>
                          <m:nor/>
                        </m:rPr>
                        <a:rPr lang="es-BO" sz="2600" i="1"/>
                        <m:t>to</m:t>
                      </m:r>
                      <m:r>
                        <m:rPr>
                          <m:nor/>
                        </m:rPr>
                        <a:rPr lang="es-BO" sz="2600" i="1"/>
                        <m:t> </m:t>
                      </m:r>
                      <m:r>
                        <m:rPr>
                          <m:nor/>
                        </m:rPr>
                        <a:rPr lang="es-BO" sz="2600" i="1"/>
                        <m:t>a</m:t>
                      </m:r>
                      <m:r>
                        <m:rPr>
                          <m:nor/>
                        </m:rPr>
                        <a:rPr lang="es-BO" sz="2600" i="1"/>
                        <m:t> </m:t>
                      </m:r>
                      <m:sSup>
                        <m:sSup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600" b="0" dirty="0"/>
              </a:p>
              <a:p>
                <a:pPr marL="0" indent="0">
                  <a:buNone/>
                </a:pPr>
                <a:r>
                  <a:rPr lang="es-BO" sz="2600" dirty="0"/>
                  <a:t>onde:</a:t>
                </a:r>
              </a:p>
              <a:p>
                <a14:m>
                  <m:oMath xmlns:m="http://schemas.openxmlformats.org/officeDocument/2006/math">
                    <m:r>
                      <a:rPr lang="es-BO" sz="2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s-BO" sz="2600" dirty="0"/>
                  <a:t> </a:t>
                </a:r>
                <a:r>
                  <a:rPr lang="pt-BR" sz="2600" dirty="0"/>
                  <a:t>é um vetor unitário cujos elementos são 1</a:t>
                </a:r>
                <a:r>
                  <a:rPr lang="es-BO" sz="2600" dirty="0"/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2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BO" sz="2600" dirty="0"/>
                  <a:t> </a:t>
                </a:r>
                <a:r>
                  <a:rPr lang="pt-BR" sz="2600" dirty="0"/>
                  <a:t>representa o valor inicial dos pesos</a:t>
                </a:r>
                <a:r>
                  <a:rPr lang="es-BO" sz="2600" dirty="0"/>
                  <a:t>.</a:t>
                </a:r>
              </a:p>
              <a:p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A44E2C9-1EB6-60DA-68EC-1925482B2F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1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061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A0037-6B0E-12BE-0EA6-527F7013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548C7-1C10-DFB7-3D9B-24700AF5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081B1D-817F-66CA-8C91-E8D9FADCF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825625"/>
            <a:ext cx="107108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BO" sz="2600" b="1" dirty="0" err="1"/>
              <a:t>Interpretação</a:t>
            </a:r>
            <a:r>
              <a:rPr lang="es-BO" sz="2600" b="1" dirty="0"/>
              <a:t> geométrica</a:t>
            </a:r>
          </a:p>
          <a:p>
            <a:pPr marL="0" indent="0">
              <a:buNone/>
            </a:pPr>
            <a:endParaRPr lang="pt-BR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14A7CEE-E6AD-C7B8-FD58-C27A16E21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69753"/>
            <a:ext cx="10258085" cy="373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50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1935-59BB-46A0-C5EE-F141676D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6A3DA-B08A-30B4-8D22-DAC428FCF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DC06C-8C29-3D05-FB74-1FC4B3348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825625"/>
            <a:ext cx="107108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BO" sz="2600" b="1" dirty="0"/>
              <a:t>Propiedades teóricas</a:t>
            </a:r>
          </a:p>
          <a:p>
            <a:pPr marL="0" indent="0">
              <a:buNone/>
            </a:pPr>
            <a:r>
              <a:rPr lang="es-BO" sz="2600" b="1" dirty="0"/>
              <a:t>a) </a:t>
            </a:r>
            <a:r>
              <a:rPr lang="es-BO" sz="2600" b="1" dirty="0" err="1"/>
              <a:t>Regularização</a:t>
            </a:r>
            <a:r>
              <a:rPr lang="es-BO" sz="2600" b="1" dirty="0"/>
              <a:t> implícita</a:t>
            </a:r>
          </a:p>
          <a:p>
            <a:pPr marL="0" indent="0">
              <a:buNone/>
            </a:pPr>
            <a:r>
              <a:rPr lang="pt-BR" sz="2600" dirty="0"/>
              <a:t>Ao eliminar o componente médio dos gradientes:</a:t>
            </a:r>
            <a:endParaRPr lang="es-BO" sz="2600" dirty="0"/>
          </a:p>
          <a:p>
            <a:r>
              <a:rPr lang="pt-BR" sz="2600" b="1" dirty="0">
                <a:solidFill>
                  <a:srgbClr val="0070C0"/>
                </a:solidFill>
              </a:rPr>
              <a:t>Reduz-se a redundância </a:t>
            </a:r>
            <a:r>
              <a:rPr lang="pt-BR" sz="2600" dirty="0"/>
              <a:t>nas atualizações dos pesos</a:t>
            </a:r>
            <a:r>
              <a:rPr lang="es-BO" sz="2600" dirty="0"/>
              <a:t>.</a:t>
            </a:r>
          </a:p>
          <a:p>
            <a:r>
              <a:rPr lang="pt-BR" sz="2600" b="1" dirty="0">
                <a:solidFill>
                  <a:srgbClr val="0070C0"/>
                </a:solidFill>
              </a:rPr>
              <a:t>Limita-se o espaço de soluções possíveis</a:t>
            </a:r>
            <a:r>
              <a:rPr lang="pt-BR" sz="2600" dirty="0"/>
              <a:t>, atuando como uma forma de </a:t>
            </a:r>
            <a:r>
              <a:rPr lang="pt-BR" sz="2600" b="1" dirty="0">
                <a:solidFill>
                  <a:srgbClr val="00B050"/>
                </a:solidFill>
              </a:rPr>
              <a:t>regularização natural</a:t>
            </a:r>
            <a:r>
              <a:rPr lang="es-BO" sz="2600" dirty="0"/>
              <a:t>.</a:t>
            </a:r>
          </a:p>
          <a:p>
            <a:r>
              <a:rPr lang="pt-BR" sz="2600" dirty="0"/>
              <a:t>Isso </a:t>
            </a:r>
            <a:r>
              <a:rPr lang="pt-BR" sz="2600" b="1" dirty="0">
                <a:solidFill>
                  <a:srgbClr val="0070C0"/>
                </a:solidFill>
              </a:rPr>
              <a:t>evita o </a:t>
            </a:r>
            <a:r>
              <a:rPr lang="pt-BR" sz="2600" b="1" dirty="0" err="1">
                <a:solidFill>
                  <a:srgbClr val="0070C0"/>
                </a:solidFill>
              </a:rPr>
              <a:t>overfitting</a:t>
            </a:r>
            <a:r>
              <a:rPr lang="pt-BR" sz="2600" b="1" dirty="0">
                <a:solidFill>
                  <a:srgbClr val="0070C0"/>
                </a:solidFill>
              </a:rPr>
              <a:t> </a:t>
            </a:r>
            <a:r>
              <a:rPr lang="pt-BR" sz="2600" dirty="0"/>
              <a:t>sem introduzir novos </a:t>
            </a:r>
            <a:r>
              <a:rPr lang="pt-BR" sz="2600" dirty="0" err="1"/>
              <a:t>hiperparâmetros</a:t>
            </a:r>
            <a:r>
              <a:rPr lang="pt-BR" sz="2600" dirty="0"/>
              <a:t>.</a:t>
            </a:r>
            <a:endParaRPr lang="es-BO" sz="260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92813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D681-1A81-494F-7641-B60303A9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54D1A-B631-7AA3-C29E-C12039CA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12E7742-12EA-FFDE-1DDB-A7045A127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BO" sz="2600" b="1" dirty="0"/>
                  <a:t>Propiedades teóricas</a:t>
                </a:r>
              </a:p>
              <a:p>
                <a:pPr marL="0" indent="0">
                  <a:buNone/>
                </a:pPr>
                <a:r>
                  <a:rPr lang="es-BO" sz="2600" b="1" dirty="0"/>
                  <a:t>b) </a:t>
                </a:r>
                <a:r>
                  <a:rPr lang="pt-BR" sz="2600" b="1" dirty="0"/>
                  <a:t>Suavização da paisagem de otimização</a:t>
                </a:r>
                <a:endParaRPr lang="es-BO" sz="2600" b="1" dirty="0"/>
              </a:p>
              <a:p>
                <a:r>
                  <a:rPr lang="pt-BR" sz="2600" dirty="0"/>
                  <a:t>Os autores demonstram que o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GC melhora a </a:t>
                </a:r>
                <a:r>
                  <a:rPr lang="pt-BR" sz="2600" b="1" dirty="0" err="1">
                    <a:solidFill>
                      <a:srgbClr val="0070C0"/>
                    </a:solidFill>
                  </a:rPr>
                  <a:t>Lipschitzness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 </a:t>
                </a:r>
                <a:r>
                  <a:rPr lang="pt-BR" sz="2600" dirty="0"/>
                  <a:t>da função de perda 𝐿(𝑊) e de seu gradiente:</a:t>
                </a:r>
                <a:endParaRPr lang="es-BO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sz="2600">
                          <a:latin typeface="Cambria Math" panose="02040503050406030204" pitchFamily="18" charset="0"/>
                        </a:rPr>
                        <m:t>∣∣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6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b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600">
                          <a:latin typeface="Cambria Math" panose="02040503050406030204" pitchFamily="18" charset="0"/>
                        </a:rPr>
                        <m:t>≤∣∣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sz="26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b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600">
                          <a:latin typeface="Cambria Math" panose="02040503050406030204" pitchFamily="18" charset="0"/>
                        </a:rPr>
                        <m:t>∣∣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6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6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b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600">
                          <a:latin typeface="Cambria Math" panose="02040503050406030204" pitchFamily="18" charset="0"/>
                        </a:rPr>
                        <m:t>≤∣∣</m:t>
                      </m:r>
                      <m:sSubSup>
                        <m:sSubSup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ar-AE" sz="2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sz="26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b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600" dirty="0"/>
              </a:p>
              <a:p>
                <a:r>
                  <a:rPr lang="pt-BR" sz="2600" dirty="0"/>
                  <a:t>Isso implica que as </a:t>
                </a:r>
                <a:r>
                  <a:rPr lang="pt-BR" sz="2600" b="1" dirty="0">
                    <a:solidFill>
                      <a:srgbClr val="0070C0"/>
                    </a:solidFill>
                  </a:rPr>
                  <a:t>variações da perda em relação aos pesos tornam-se mais suaves</a:t>
                </a:r>
                <a:r>
                  <a:rPr lang="pt-BR" sz="2600" dirty="0"/>
                  <a:t>, tornando o treinamento mais </a:t>
                </a:r>
                <a:r>
                  <a:rPr lang="pt-BR" sz="2600" b="1" dirty="0">
                    <a:solidFill>
                      <a:srgbClr val="00B050"/>
                    </a:solidFill>
                  </a:rPr>
                  <a:t>estável e eficiente</a:t>
                </a:r>
                <a:r>
                  <a:rPr lang="pt-BR" sz="2600" dirty="0"/>
                  <a:t>.</a:t>
                </a:r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12E7742-12EA-FFDE-1DDB-A7045A127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1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318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6723-E895-3957-B463-5A7EF16B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4BE5B-13D4-873C-4493-09362B8C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07383-B62E-13F1-8DCA-8EB91DB7F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825625"/>
            <a:ext cx="107108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BO" sz="2600" b="1" dirty="0"/>
              <a:t>c) </a:t>
            </a:r>
            <a:r>
              <a:rPr lang="es-BO" sz="2600" b="1" dirty="0" err="1"/>
              <a:t>Estabilização</a:t>
            </a:r>
            <a:r>
              <a:rPr lang="es-BO" sz="2600" b="1" dirty="0"/>
              <a:t> dos gradientes</a:t>
            </a:r>
          </a:p>
          <a:p>
            <a:r>
              <a:rPr lang="pt-BR" sz="2600" dirty="0"/>
              <a:t>A centralização reduz os valores extremos do gradiente (semelhante ao efeito do </a:t>
            </a:r>
            <a:r>
              <a:rPr lang="pt-BR" sz="2600" dirty="0" err="1"/>
              <a:t>gradient</a:t>
            </a:r>
            <a:r>
              <a:rPr lang="pt-BR" sz="2600" dirty="0"/>
              <a:t> clipping), evitando:</a:t>
            </a:r>
            <a:endParaRPr lang="es-BO" sz="2600" dirty="0"/>
          </a:p>
          <a:p>
            <a:r>
              <a:rPr lang="pt-BR" sz="2600" dirty="0"/>
              <a:t>Grandes oscilações durante o treinamento.</a:t>
            </a:r>
            <a:endParaRPr lang="es-BO" sz="2600" dirty="0"/>
          </a:p>
          <a:p>
            <a:r>
              <a:rPr lang="pt-BR" sz="2600" dirty="0"/>
              <a:t>Explosão ou desaparecimento dos gradientes</a:t>
            </a:r>
            <a:r>
              <a:rPr lang="es-BO" sz="2600" dirty="0"/>
              <a:t>.</a:t>
            </a:r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6289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C3EAD-CF61-9E41-848B-FA3EF922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58D07-C01A-E6D6-2330-780601F8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Fundamentação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CA7B9A-E533-C535-D4FA-6489B4FB5B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s-BO" b="1" dirty="0" err="1"/>
                  <a:t>Integração</a:t>
                </a:r>
                <a:r>
                  <a:rPr lang="es-BO" b="1" dirty="0"/>
                  <a:t> em </a:t>
                </a:r>
                <a:r>
                  <a:rPr lang="es-BO" b="1" dirty="0" err="1"/>
                  <a:t>otimizadores</a:t>
                </a:r>
                <a:r>
                  <a:rPr lang="es-BO" b="1" dirty="0"/>
                  <a:t> existentes</a:t>
                </a:r>
                <a:r>
                  <a:rPr lang="pt-BR" dirty="0"/>
                  <a:t> </a:t>
                </a:r>
              </a:p>
              <a:p>
                <a:r>
                  <a:rPr lang="pt-BR" dirty="0"/>
                  <a:t>O GC não substitui os algoritmos de otimização, ele </a:t>
                </a:r>
                <a:r>
                  <a:rPr lang="pt-BR" b="1" dirty="0">
                    <a:solidFill>
                      <a:srgbClr val="00B050"/>
                    </a:solidFill>
                  </a:rPr>
                  <a:t>se integra facilmente </a:t>
                </a:r>
                <a:r>
                  <a:rPr lang="pt-BR" dirty="0"/>
                  <a:t>a eles.</a:t>
                </a:r>
              </a:p>
              <a:p>
                <a:r>
                  <a:rPr lang="pt-BR" dirty="0"/>
                  <a:t>Por exemplo, no </a:t>
                </a:r>
                <a:r>
                  <a:rPr lang="pt-BR" b="1" dirty="0" err="1">
                    <a:solidFill>
                      <a:srgbClr val="0070C0"/>
                    </a:solidFill>
                  </a:rPr>
                  <a:t>SGD</a:t>
                </a:r>
                <a:r>
                  <a:rPr lang="pt-BR" b="1" dirty="0">
                    <a:solidFill>
                      <a:srgbClr val="0070C0"/>
                    </a:solidFill>
                  </a:rPr>
                  <a:t> com momentum</a:t>
                </a:r>
                <a:r>
                  <a:rPr lang="pt-BR" dirty="0"/>
                  <a:t>, a única modificação é substituir</a:t>
                </a:r>
                <a:r>
                  <a:rPr lang="es-B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s-BO" dirty="0"/>
                  <a:t>   por </a:t>
                </a:r>
                <a:r>
                  <a:rPr lang="es-BO" dirty="0" err="1"/>
                  <a:t>sua</a:t>
                </a:r>
                <a:r>
                  <a:rPr lang="es-BO" dirty="0"/>
                  <a:t> </a:t>
                </a:r>
                <a:r>
                  <a:rPr lang="es-BO" dirty="0" err="1"/>
                  <a:t>versão</a:t>
                </a:r>
                <a:r>
                  <a:rPr lang="es-BO" dirty="0"/>
                  <a:t> centralizada: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pt-BR" dirty="0"/>
                  <a:t>Depois, a atualização continua igual</a:t>
                </a:r>
                <a:r>
                  <a:rPr lang="es-B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pt-BR" dirty="0"/>
                  <a:t>O mesmo se aplica a </a:t>
                </a:r>
                <a:r>
                  <a:rPr lang="pt-BR" b="1" dirty="0">
                    <a:solidFill>
                      <a:srgbClr val="0070C0"/>
                    </a:solidFill>
                  </a:rPr>
                  <a:t>Adam</a:t>
                </a:r>
                <a:r>
                  <a:rPr lang="pt-BR" dirty="0">
                    <a:solidFill>
                      <a:srgbClr val="0070C0"/>
                    </a:solidFill>
                  </a:rPr>
                  <a:t>, </a:t>
                </a:r>
                <a:r>
                  <a:rPr lang="pt-BR" b="1" dirty="0" err="1">
                    <a:solidFill>
                      <a:srgbClr val="0070C0"/>
                    </a:solidFill>
                  </a:rPr>
                  <a:t>Adagrad</a:t>
                </a:r>
                <a:r>
                  <a:rPr lang="pt-BR" dirty="0">
                    <a:solidFill>
                      <a:srgbClr val="0070C0"/>
                    </a:solidFill>
                  </a:rPr>
                  <a:t> </a:t>
                </a:r>
                <a:r>
                  <a:rPr lang="pt-BR" dirty="0"/>
                  <a:t>ou </a:t>
                </a:r>
                <a:r>
                  <a:rPr lang="pt-BR" b="1" dirty="0">
                    <a:solidFill>
                      <a:srgbClr val="0070C0"/>
                    </a:solidFill>
                  </a:rPr>
                  <a:t>qualquer otimizador baseado em gradientes</a:t>
                </a:r>
                <a:r>
                  <a:rPr lang="es-BO" dirty="0">
                    <a:solidFill>
                      <a:srgbClr val="0070C0"/>
                    </a:solidFill>
                  </a:rPr>
                  <a:t>.</a:t>
                </a:r>
              </a:p>
              <a:p>
                <a:endParaRPr lang="pt-BR" noProof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CA7B9A-E533-C535-D4FA-6489B4FB5B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938" y="1825625"/>
                <a:ext cx="10710862" cy="4351338"/>
              </a:xfrm>
              <a:blipFill>
                <a:blip r:embed="rId3"/>
                <a:stretch>
                  <a:fillRect l="-1024" t="-2801" b="-350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519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EF271-613C-0588-9B7A-ADBFFAEF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FD1FF37-22A4-5C35-F869-8798E78C0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19127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pt-BR" dirty="0"/>
                  <a:t>O GC se posiciona entre a etapa de retropropagação do gradiente e a atualização dos pesos, modificando o fluxo padrão do processo de otimização da seguinte forma</a:t>
                </a:r>
                <a:r>
                  <a:rPr lang="es-BO" dirty="0"/>
                  <a:t>:</a:t>
                </a:r>
              </a:p>
              <a:p>
                <a:r>
                  <a:rPr lang="es-BO" b="1" dirty="0"/>
                  <a:t>Cálculo da </a:t>
                </a:r>
                <a:r>
                  <a:rPr lang="es-BO" b="1" dirty="0" err="1"/>
                  <a:t>perda</a:t>
                </a:r>
                <a:endParaRPr lang="es-BO" b="1" dirty="0"/>
              </a:p>
              <a:p>
                <a:pPr marL="0" indent="0">
                  <a:buNone/>
                </a:pPr>
                <a:r>
                  <a:rPr lang="pt-BR" dirty="0"/>
                  <a:t>A rede realiza a </a:t>
                </a:r>
                <a:r>
                  <a:rPr lang="pt-BR" b="1" dirty="0">
                    <a:solidFill>
                      <a:srgbClr val="0070C0"/>
                    </a:solidFill>
                  </a:rPr>
                  <a:t>propagação direta (</a:t>
                </a:r>
                <a:r>
                  <a:rPr lang="pt-BR" b="1" i="1" dirty="0" err="1">
                    <a:solidFill>
                      <a:srgbClr val="0070C0"/>
                    </a:solidFill>
                  </a:rPr>
                  <a:t>forward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 </a:t>
                </a:r>
                <a:r>
                  <a:rPr lang="pt-BR" b="1" i="1" dirty="0" err="1">
                    <a:solidFill>
                      <a:srgbClr val="0070C0"/>
                    </a:solidFill>
                  </a:rPr>
                  <a:t>pass</a:t>
                </a:r>
                <a:r>
                  <a:rPr lang="pt-BR" b="1" dirty="0">
                    <a:solidFill>
                      <a:srgbClr val="0070C0"/>
                    </a:solidFill>
                  </a:rPr>
                  <a:t>)</a:t>
                </a:r>
                <a:r>
                  <a:rPr lang="pt-BR" dirty="0"/>
                  <a:t> e calcula a função de perda 𝐿(𝑊) a partir das previsões e dos valores reais.</a:t>
                </a:r>
                <a:endParaRPr lang="es-BO" dirty="0"/>
              </a:p>
              <a:p>
                <a:r>
                  <a:rPr lang="es-BO" b="1" dirty="0"/>
                  <a:t>Cálculo do gradiente</a:t>
                </a:r>
              </a:p>
              <a:p>
                <a:pPr marL="0" indent="0">
                  <a:buNone/>
                </a:pPr>
                <a:r>
                  <a:rPr lang="pt-BR" dirty="0"/>
                  <a:t>Durante </a:t>
                </a:r>
                <a:r>
                  <a:rPr lang="pt-BR" dirty="0">
                    <a:solidFill>
                      <a:srgbClr val="0070C0"/>
                    </a:solidFill>
                  </a:rPr>
                  <a:t>a </a:t>
                </a:r>
                <a:r>
                  <a:rPr lang="pt-BR" b="1" dirty="0">
                    <a:solidFill>
                      <a:srgbClr val="0070C0"/>
                    </a:solidFill>
                  </a:rPr>
                  <a:t>retropropagação</a:t>
                </a:r>
                <a:r>
                  <a:rPr lang="pt-BR" dirty="0"/>
                  <a:t>, obtém-se o </a:t>
                </a:r>
                <a:r>
                  <a:rPr lang="pt-BR" b="1" dirty="0">
                    <a:solidFill>
                      <a:srgbClr val="00B050"/>
                    </a:solidFill>
                  </a:rPr>
                  <a:t>gradiente da perda em relação aos pesos</a:t>
                </a:r>
                <a:r>
                  <a:rPr lang="pt-BR" dirty="0"/>
                  <a:t>:</a:t>
                </a:r>
                <a:endParaRPr lang="es-BO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FD1FF37-22A4-5C35-F869-8798E78C0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19127" cy="4351338"/>
              </a:xfrm>
              <a:blipFill>
                <a:blip r:embed="rId3"/>
                <a:stretch>
                  <a:fillRect l="-1709" t="-3501" r="-95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E6CA89E0-03D1-1298-4D77-DE169AC5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Arquitetura e funcionamento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C14735-C0FA-D6DA-83DF-B30262DF89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8" t="16036" r="52085" b="39678"/>
          <a:stretch>
            <a:fillRect/>
          </a:stretch>
        </p:blipFill>
        <p:spPr>
          <a:xfrm>
            <a:off x="7403005" y="2199191"/>
            <a:ext cx="4623092" cy="294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28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8DD9-C32E-791E-9D1C-854CD0AD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5D45192-B53C-CF05-AF9F-10DC8ADE7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64805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BO" sz="2400" b="1" dirty="0" err="1"/>
                  <a:t>Aplicação</a:t>
                </a:r>
                <a:r>
                  <a:rPr lang="es-BO" sz="2400" b="1" dirty="0"/>
                  <a:t> do </a:t>
                </a:r>
                <a:r>
                  <a:rPr lang="es-BO" sz="2400" b="1" dirty="0" err="1"/>
                  <a:t>Gradient</a:t>
                </a:r>
                <a:r>
                  <a:rPr lang="es-BO" sz="2400" b="1" dirty="0"/>
                  <a:t> </a:t>
                </a:r>
                <a:r>
                  <a:rPr lang="es-BO" sz="2400" b="1" dirty="0" err="1"/>
                  <a:t>Centralization</a:t>
                </a:r>
                <a:endParaRPr lang="es-BO" sz="2400" b="1" dirty="0"/>
              </a:p>
              <a:p>
                <a:pPr marL="0" indent="0">
                  <a:buNone/>
                </a:pPr>
                <a:r>
                  <a:rPr lang="pt-BR" sz="2400" dirty="0"/>
                  <a:t>Antes que o otimizador atualize os pesos, o </a:t>
                </a:r>
                <a:r>
                  <a:rPr lang="pt-BR" sz="2400" b="1" dirty="0">
                    <a:solidFill>
                      <a:srgbClr val="0070C0"/>
                    </a:solidFill>
                  </a:rPr>
                  <a:t>GC centraliza os gradientes</a:t>
                </a:r>
                <a:r>
                  <a:rPr lang="pt-BR" sz="2400" dirty="0"/>
                  <a:t> subtraindo sua média:</a:t>
                </a:r>
                <a:endParaRPr lang="es-BO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4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s-BO" sz="2400" i="1"/>
                        <m:t>mean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4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pPr marL="0" indent="0">
                  <a:buNone/>
                </a:pPr>
                <a:r>
                  <a:rPr lang="pt-BR" sz="2400" dirty="0"/>
                  <a:t>Essa operação </a:t>
                </a:r>
                <a:r>
                  <a:rPr lang="pt-BR" sz="2400" b="1" dirty="0">
                    <a:solidFill>
                      <a:srgbClr val="00B050"/>
                    </a:solidFill>
                  </a:rPr>
                  <a:t>equilibra as atualizações dos parâmetros</a:t>
                </a:r>
                <a:r>
                  <a:rPr lang="pt-BR" sz="2400" dirty="0">
                    <a:solidFill>
                      <a:srgbClr val="00B050"/>
                    </a:solidFill>
                  </a:rPr>
                  <a:t> e </a:t>
                </a:r>
                <a:r>
                  <a:rPr lang="pt-BR" sz="2400" b="1" dirty="0">
                    <a:solidFill>
                      <a:srgbClr val="00B050"/>
                    </a:solidFill>
                  </a:rPr>
                  <a:t>suaviza o comportamento do gradiente</a:t>
                </a:r>
                <a:r>
                  <a:rPr lang="es-BO" sz="2400" dirty="0">
                    <a:solidFill>
                      <a:srgbClr val="00B050"/>
                    </a:solidFill>
                  </a:rPr>
                  <a:t>.</a:t>
                </a:r>
              </a:p>
              <a:p>
                <a:r>
                  <a:rPr lang="es-BO" sz="2400" b="1" dirty="0" err="1"/>
                  <a:t>Atualização</a:t>
                </a:r>
                <a:r>
                  <a:rPr lang="es-BO" sz="2400" b="1" dirty="0"/>
                  <a:t> dos pesos</a:t>
                </a:r>
              </a:p>
              <a:p>
                <a:pPr marL="0" indent="0">
                  <a:buNone/>
                </a:pPr>
                <a:r>
                  <a:rPr lang="pt-BR" sz="2400" dirty="0"/>
                  <a:t>O </a:t>
                </a:r>
                <a:r>
                  <a:rPr lang="pt-BR" sz="2400" b="1" dirty="0">
                    <a:solidFill>
                      <a:srgbClr val="0070C0"/>
                    </a:solidFill>
                  </a:rPr>
                  <a:t>otimizador</a:t>
                </a:r>
                <a:r>
                  <a:rPr lang="pt-BR" sz="2400" dirty="0"/>
                  <a:t> (como </a:t>
                </a:r>
                <a:r>
                  <a:rPr lang="pt-BR" sz="2400" b="1" dirty="0" err="1"/>
                  <a:t>SGD</a:t>
                </a:r>
                <a:r>
                  <a:rPr lang="pt-BR" sz="2400" dirty="0"/>
                  <a:t>, </a:t>
                </a:r>
                <a:r>
                  <a:rPr lang="pt-BR" sz="2400" b="1" dirty="0"/>
                  <a:t>Adam</a:t>
                </a:r>
                <a:r>
                  <a:rPr lang="pt-BR" sz="2400" dirty="0"/>
                  <a:t> ou </a:t>
                </a:r>
                <a:r>
                  <a:rPr lang="pt-BR" sz="2400" b="1" dirty="0" err="1"/>
                  <a:t>Adagrad</a:t>
                </a:r>
                <a:r>
                  <a:rPr lang="pt-BR" sz="2400" dirty="0"/>
                  <a:t>) utiliza o gradiente centralizado para realizar a atualização</a:t>
                </a:r>
                <a:r>
                  <a:rPr lang="es-BO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nor/>
                        </m:rPr>
                        <a:rPr lang="ar-AE" sz="2400" i="1"/>
                        <m:t> 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𝐺𝐶</m:t>
                          </m:r>
                        </m:sub>
                      </m:sSub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sz="24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5D45192-B53C-CF05-AF9F-10DC8ADE7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64805" cy="4351338"/>
              </a:xfrm>
              <a:blipFill>
                <a:blip r:embed="rId3"/>
                <a:stretch>
                  <a:fillRect l="-1487" t="-2661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D71BD746-BB57-C50F-D1B8-098AD077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Arquitetura e funcionamento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C494C5-36B8-E280-7D83-378AAA1760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8" t="16036" r="52085" b="39678"/>
          <a:stretch>
            <a:fillRect/>
          </a:stretch>
        </p:blipFill>
        <p:spPr>
          <a:xfrm>
            <a:off x="7403005" y="2199191"/>
            <a:ext cx="4623092" cy="294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37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1CA3-8C3E-72CC-A3E5-629CEDC0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FC72F-9ACA-2377-38D0-74A46A4A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Arquitetura e funcionamento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02E774E-47BB-5A14-5771-DE2613247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99B748-1D85-4464-FDD1-C996F5AB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35" b="39677"/>
          <a:stretch>
            <a:fillRect/>
          </a:stretch>
        </p:blipFill>
        <p:spPr>
          <a:xfrm>
            <a:off x="958761" y="2013996"/>
            <a:ext cx="9913703" cy="361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56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EAC19-A9D1-AA4B-F165-EEB8E645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7D445-03F1-B933-F049-6045AFB0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Treinamento e otimização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A41F2-3BA0-9ADF-BF42-7878E2229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3300" b="1" dirty="0" err="1"/>
              <a:t>Efeitos</a:t>
            </a:r>
            <a:r>
              <a:rPr lang="es-MX" sz="3300" b="1" dirty="0"/>
              <a:t> sobre o </a:t>
            </a:r>
            <a:r>
              <a:rPr lang="es-MX" sz="3300" b="1" dirty="0" err="1"/>
              <a:t>treinamento</a:t>
            </a:r>
            <a:endParaRPr lang="es-MX" sz="3300" b="1" dirty="0"/>
          </a:p>
          <a:p>
            <a:pPr marL="0" indent="0">
              <a:buNone/>
            </a:pPr>
            <a:r>
              <a:rPr lang="pt-BR" dirty="0"/>
              <a:t>A aplicação do GC gera diversos efeitos positivos na prática:</a:t>
            </a:r>
          </a:p>
          <a:p>
            <a:r>
              <a:rPr lang="pt-BR" b="1" dirty="0"/>
              <a:t>Convergência mais rápida:</a:t>
            </a:r>
            <a:r>
              <a:rPr lang="pt-BR" dirty="0"/>
              <a:t> o modelo atinge valores mínimos da função de perda em menos iterações, pois os gradientes tornam-se mais estáveis e previsíveis.</a:t>
            </a:r>
            <a:endParaRPr lang="es-MX" dirty="0"/>
          </a:p>
          <a:p>
            <a:r>
              <a:rPr lang="pt-BR" b="1" dirty="0"/>
              <a:t>Maior estabilidade do aprendizado:</a:t>
            </a:r>
            <a:r>
              <a:rPr lang="pt-BR" dirty="0"/>
              <a:t> ao eliminar componentes redundantes dos gradientes, reduzem-se as oscilações bruscas e evita-se a divergência durante o treinamento.</a:t>
            </a:r>
            <a:endParaRPr lang="es-MX" dirty="0"/>
          </a:p>
          <a:p>
            <a:r>
              <a:rPr lang="pt-BR" b="1" dirty="0"/>
              <a:t>Melhor equilíbrio entre aprendizado e generalização:</a:t>
            </a:r>
            <a:r>
              <a:rPr lang="pt-BR" dirty="0"/>
              <a:t> o GC atua como uma forma de regularização implícita, evitando o </a:t>
            </a:r>
            <a:r>
              <a:rPr lang="pt-BR" i="1" dirty="0" err="1"/>
              <a:t>overfitting</a:t>
            </a:r>
            <a:r>
              <a:rPr lang="pt-BR" dirty="0"/>
              <a:t> sem introduzir novos </a:t>
            </a:r>
            <a:r>
              <a:rPr lang="pt-BR" dirty="0" err="1"/>
              <a:t>hiperparâmetros</a:t>
            </a:r>
            <a:r>
              <a:rPr lang="pt-BR" dirty="0"/>
              <a:t>.</a:t>
            </a:r>
            <a:endParaRPr lang="es-MX" dirty="0"/>
          </a:p>
          <a:p>
            <a:pPr marL="0" indent="0">
              <a:buNone/>
            </a:pPr>
            <a:r>
              <a:rPr lang="pt-BR" dirty="0"/>
              <a:t>Em conjunto, esses efeitos tornam o </a:t>
            </a:r>
            <a:r>
              <a:rPr lang="pt-BR" b="1" dirty="0">
                <a:solidFill>
                  <a:srgbClr val="0070C0"/>
                </a:solidFill>
              </a:rPr>
              <a:t>processo de treinamento mais controlado e eficiente</a:t>
            </a:r>
            <a:r>
              <a:rPr lang="pt-BR" dirty="0">
                <a:solidFill>
                  <a:srgbClr val="0070C0"/>
                </a:solidFill>
              </a:rPr>
              <a:t>, </a:t>
            </a:r>
            <a:r>
              <a:rPr lang="pt-BR" dirty="0"/>
              <a:t>especialmente em </a:t>
            </a:r>
            <a:r>
              <a:rPr lang="pt-BR" b="1" dirty="0">
                <a:solidFill>
                  <a:srgbClr val="00B0F0"/>
                </a:solidFill>
              </a:rPr>
              <a:t>redes profundas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ou com </a:t>
            </a:r>
            <a:r>
              <a:rPr lang="pt-BR" b="1" dirty="0">
                <a:solidFill>
                  <a:srgbClr val="00B0F0"/>
                </a:solidFill>
              </a:rPr>
              <a:t>dados complexos</a:t>
            </a:r>
            <a:r>
              <a:rPr lang="pt-BR" dirty="0">
                <a:solidFill>
                  <a:srgbClr val="00B0F0"/>
                </a:solidFill>
              </a:rPr>
              <a:t>.</a:t>
            </a:r>
            <a:endParaRPr lang="pt-BR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731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8F170-55D7-E82F-6FC7-BF830642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2400B-C79D-53A4-672A-26CC9F3A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Treinamento e otimização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9B6054-FB8C-CFB6-5D57-60EA49CA2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 err="1"/>
              <a:t>Estratégias</a:t>
            </a:r>
            <a:r>
              <a:rPr lang="es-MX" b="1" dirty="0"/>
              <a:t> de </a:t>
            </a:r>
            <a:r>
              <a:rPr lang="es-MX" b="1" dirty="0" err="1"/>
              <a:t>otimização</a:t>
            </a:r>
            <a:endParaRPr lang="es-MX" b="1" dirty="0"/>
          </a:p>
          <a:p>
            <a:pPr marL="0" indent="0">
              <a:buNone/>
            </a:pPr>
            <a:r>
              <a:rPr lang="pt-BR" sz="2400" dirty="0"/>
              <a:t>O GC se </a:t>
            </a:r>
            <a:r>
              <a:rPr lang="pt-BR" sz="2400" b="1" dirty="0">
                <a:solidFill>
                  <a:srgbClr val="0070C0"/>
                </a:solidFill>
              </a:rPr>
              <a:t>integra aos otimizadores existentes </a:t>
            </a:r>
            <a:r>
              <a:rPr lang="pt-BR" sz="2400" dirty="0"/>
              <a:t>(</a:t>
            </a:r>
            <a:r>
              <a:rPr lang="pt-BR" sz="2400" i="1" dirty="0" err="1"/>
              <a:t>SGD</a:t>
            </a:r>
            <a:r>
              <a:rPr lang="pt-BR" sz="2400" dirty="0"/>
              <a:t>, </a:t>
            </a:r>
            <a:r>
              <a:rPr lang="pt-BR" sz="2400" i="1" dirty="0"/>
              <a:t>Adam</a:t>
            </a:r>
            <a:r>
              <a:rPr lang="pt-BR" sz="2400" dirty="0"/>
              <a:t>, </a:t>
            </a:r>
            <a:r>
              <a:rPr lang="pt-BR" sz="2400" i="1" dirty="0" err="1"/>
              <a:t>Adagrad</a:t>
            </a:r>
            <a:r>
              <a:rPr lang="pt-BR" sz="2400" dirty="0"/>
              <a:t>, etc.) </a:t>
            </a:r>
            <a:r>
              <a:rPr lang="pt-BR" sz="2400" b="1" dirty="0">
                <a:solidFill>
                  <a:srgbClr val="0070C0"/>
                </a:solidFill>
              </a:rPr>
              <a:t>sem necessidade de modificar seus parâmetros</a:t>
            </a:r>
            <a:r>
              <a:rPr lang="pt-BR" sz="2400" dirty="0">
                <a:solidFill>
                  <a:srgbClr val="0070C0"/>
                </a:solidFill>
              </a:rPr>
              <a:t>.</a:t>
            </a:r>
            <a:br>
              <a:rPr lang="pt-BR" sz="2400" dirty="0"/>
            </a:br>
            <a:r>
              <a:rPr lang="pt-BR" sz="2400" dirty="0"/>
              <a:t>No entanto, na prática, observam-se alguns benefícios:</a:t>
            </a:r>
            <a:endParaRPr lang="es-MX" sz="2400" dirty="0"/>
          </a:p>
          <a:p>
            <a:r>
              <a:rPr lang="pt-BR" sz="2400" dirty="0"/>
              <a:t>A </a:t>
            </a:r>
            <a:r>
              <a:rPr lang="pt-BR" sz="2400" b="1" dirty="0">
                <a:solidFill>
                  <a:srgbClr val="0070C0"/>
                </a:solidFill>
              </a:rPr>
              <a:t>taxa de aprendizado</a:t>
            </a:r>
            <a:r>
              <a:rPr lang="pt-BR" sz="2400" dirty="0">
                <a:solidFill>
                  <a:srgbClr val="0070C0"/>
                </a:solidFill>
              </a:rPr>
              <a:t> </a:t>
            </a:r>
            <a:r>
              <a:rPr lang="pt-BR" sz="2400" dirty="0"/>
              <a:t>pode ser </a:t>
            </a:r>
            <a:r>
              <a:rPr lang="pt-BR" sz="2400" b="1" dirty="0">
                <a:solidFill>
                  <a:srgbClr val="00B050"/>
                </a:solidFill>
              </a:rPr>
              <a:t>ligeiramente aumentada</a:t>
            </a:r>
            <a:r>
              <a:rPr lang="pt-BR" sz="2400" dirty="0">
                <a:solidFill>
                  <a:srgbClr val="00B050"/>
                </a:solidFill>
              </a:rPr>
              <a:t> </a:t>
            </a:r>
            <a:r>
              <a:rPr lang="pt-BR" sz="2400" dirty="0"/>
              <a:t>sem perder estabilidade.</a:t>
            </a:r>
            <a:endParaRPr lang="es-MX" sz="2400" dirty="0"/>
          </a:p>
          <a:p>
            <a:r>
              <a:rPr lang="pt-BR" sz="2400" dirty="0"/>
              <a:t>É possível </a:t>
            </a:r>
            <a:r>
              <a:rPr lang="pt-BR" sz="2400" b="1" dirty="0">
                <a:solidFill>
                  <a:srgbClr val="00B050"/>
                </a:solidFill>
              </a:rPr>
              <a:t>alcançar a convergência em menos épocas</a:t>
            </a:r>
            <a:r>
              <a:rPr lang="pt-BR" sz="2400" dirty="0"/>
              <a:t>, pois o treinamento torna-se mais estável.</a:t>
            </a:r>
            <a:endParaRPr lang="es-MX" sz="2400" dirty="0"/>
          </a:p>
          <a:p>
            <a:r>
              <a:rPr lang="pt-BR" sz="2400" dirty="0"/>
              <a:t>O método apresenta </a:t>
            </a:r>
            <a:r>
              <a:rPr lang="pt-BR" sz="2400" b="1" dirty="0">
                <a:solidFill>
                  <a:srgbClr val="00B050"/>
                </a:solidFill>
              </a:rPr>
              <a:t>melhor desempenho com diferentes otimizadores</a:t>
            </a:r>
            <a:r>
              <a:rPr lang="pt-BR" sz="2400" dirty="0"/>
              <a:t>, mantendo a </a:t>
            </a:r>
            <a:r>
              <a:rPr lang="pt-BR" sz="2400" b="1" dirty="0">
                <a:solidFill>
                  <a:srgbClr val="0070C0"/>
                </a:solidFill>
              </a:rPr>
              <a:t>mesma configuração</a:t>
            </a:r>
            <a:r>
              <a:rPr lang="pt-BR" sz="2400" dirty="0">
                <a:solidFill>
                  <a:srgbClr val="0070C0"/>
                </a:solidFill>
              </a:rPr>
              <a:t>.</a:t>
            </a:r>
            <a:endParaRPr lang="es-MX" sz="2400" dirty="0">
              <a:solidFill>
                <a:srgbClr val="0070C0"/>
              </a:solidFill>
            </a:endParaRPr>
          </a:p>
          <a:p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2636383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CF714-ADF5-245B-B14E-64844076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0E090-36C2-6C45-2E8A-65600481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Treinamento e otimização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4C1D64-599B-E188-8B76-15C8F1C01D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41" r="51009" b="23836"/>
          <a:stretch>
            <a:fillRect/>
          </a:stretch>
        </p:blipFill>
        <p:spPr>
          <a:xfrm>
            <a:off x="7924801" y="711406"/>
            <a:ext cx="2921642" cy="2895394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5AEF5FF-09C4-D925-0628-E9F87F303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66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noProof="0" dirty="0"/>
              <a:t>Dois gráficos comparando diferentes combinações de normalização y GC.</a:t>
            </a:r>
          </a:p>
          <a:p>
            <a:pPr marL="0" indent="0">
              <a:buNone/>
            </a:pPr>
            <a:r>
              <a:rPr lang="pt-BR" sz="2000" b="1" noProof="0" dirty="0"/>
              <a:t>Que demostra</a:t>
            </a:r>
          </a:p>
          <a:p>
            <a:r>
              <a:rPr lang="pt-BR" sz="2000" dirty="0"/>
              <a:t>A</a:t>
            </a:r>
            <a:r>
              <a:rPr lang="pt-BR" sz="2000" noProof="0" dirty="0"/>
              <a:t>s curvas com </a:t>
            </a:r>
            <a:r>
              <a:rPr lang="pt-BR" sz="2000" b="1" noProof="0" dirty="0"/>
              <a:t>GC ( vermelho e azul)</a:t>
            </a:r>
            <a:r>
              <a:rPr lang="pt-BR" sz="2000" noProof="0" dirty="0"/>
              <a:t> descendem y estabilizam antes → </a:t>
            </a:r>
            <a:r>
              <a:rPr lang="pt-BR" sz="2000" noProof="0" dirty="0" err="1"/>
              <a:t>treinamiento</a:t>
            </a:r>
            <a:r>
              <a:rPr lang="pt-BR" sz="2000" noProof="0" dirty="0"/>
              <a:t> más rápido.</a:t>
            </a:r>
          </a:p>
          <a:p>
            <a:r>
              <a:rPr lang="pt-BR" sz="2000" noProof="0" dirty="0"/>
              <a:t>Em validação, GC antiga </a:t>
            </a:r>
            <a:r>
              <a:rPr lang="pt-BR" sz="2000" b="1" noProof="0" dirty="0"/>
              <a:t>maior precisão final</a:t>
            </a:r>
          </a:p>
          <a:p>
            <a:pPr marL="0" indent="0">
              <a:buNone/>
            </a:pPr>
            <a:endParaRPr lang="pt-BR" sz="2000" b="1" noProof="0" dirty="0"/>
          </a:p>
          <a:p>
            <a:pPr marL="0" indent="0">
              <a:buNone/>
            </a:pPr>
            <a:r>
              <a:rPr lang="pt-BR" sz="2000" noProof="0" dirty="0"/>
              <a:t>GC </a:t>
            </a:r>
            <a:r>
              <a:rPr lang="pt-BR" sz="2000" b="1" noProof="0" dirty="0"/>
              <a:t>acelera o treinamento y melhora a generalização</a:t>
            </a:r>
            <a:r>
              <a:rPr lang="pt-BR" sz="2000" noProof="0" dirty="0"/>
              <a:t>, incluso combinado com outros métodos como </a:t>
            </a:r>
            <a:r>
              <a:rPr lang="pt-BR" sz="2000" i="1" noProof="0" dirty="0" err="1"/>
              <a:t>BatchNorm</a:t>
            </a:r>
            <a:r>
              <a:rPr lang="pt-BR" sz="2000" noProof="0" dirty="0"/>
              <a:t> y </a:t>
            </a:r>
            <a:r>
              <a:rPr lang="pt-BR" sz="2000" i="1" noProof="0" dirty="0" err="1"/>
              <a:t>Weight</a:t>
            </a:r>
            <a:r>
              <a:rPr lang="pt-BR" sz="2000" i="1" noProof="0" dirty="0"/>
              <a:t> </a:t>
            </a:r>
            <a:r>
              <a:rPr lang="pt-BR" sz="2000" i="1" noProof="0" dirty="0" err="1"/>
              <a:t>Standardization</a:t>
            </a:r>
            <a:r>
              <a:rPr lang="pt-BR" sz="2000" noProof="0" dirty="0"/>
              <a:t>.</a:t>
            </a:r>
          </a:p>
          <a:p>
            <a:endParaRPr lang="pt-BR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D4A1D7-48E4-D5C9-38A4-AD8B5AAE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90" t="1870" r="14176" b="21966"/>
          <a:stretch>
            <a:fillRect/>
          </a:stretch>
        </p:blipFill>
        <p:spPr>
          <a:xfrm>
            <a:off x="7924801" y="3703838"/>
            <a:ext cx="3007360" cy="27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67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114A-592F-C813-DA94-E9A88FAC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CE323-4C78-9153-627E-4C92A346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47DB9E-BE82-3C77-FE88-D585D32E3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5100" b="1" noProof="0" dirty="0"/>
              <a:t>Vantagens</a:t>
            </a:r>
            <a:r>
              <a:rPr lang="pt-BR" sz="4000" b="1" noProof="0" dirty="0"/>
              <a:t>:</a:t>
            </a:r>
          </a:p>
          <a:p>
            <a:r>
              <a:rPr lang="pt-BR" sz="4400" b="1" dirty="0"/>
              <a:t>Simplicidade de implementação</a:t>
            </a:r>
            <a:br>
              <a:rPr lang="pt-BR" sz="4400" dirty="0"/>
            </a:br>
            <a:r>
              <a:rPr lang="pt-BR" sz="4400" dirty="0"/>
              <a:t>O GC pode ser facilmente </a:t>
            </a:r>
            <a:r>
              <a:rPr lang="pt-BR" sz="4400" b="1" dirty="0"/>
              <a:t>incorporado em qualquer otimizador baseado em gradientes</a:t>
            </a:r>
            <a:r>
              <a:rPr lang="pt-BR" sz="4400" dirty="0"/>
              <a:t> (como </a:t>
            </a:r>
            <a:r>
              <a:rPr lang="pt-BR" sz="4400" i="1" dirty="0" err="1"/>
              <a:t>SGD</a:t>
            </a:r>
            <a:r>
              <a:rPr lang="pt-BR" sz="4400" dirty="0"/>
              <a:t> ou </a:t>
            </a:r>
            <a:r>
              <a:rPr lang="pt-BR" sz="4400" i="1" dirty="0"/>
              <a:t>Adam</a:t>
            </a:r>
            <a:r>
              <a:rPr lang="pt-BR" sz="4400" dirty="0"/>
              <a:t>) com </a:t>
            </a:r>
            <a:r>
              <a:rPr lang="pt-BR" sz="4400" b="1" dirty="0">
                <a:solidFill>
                  <a:srgbClr val="0070C0"/>
                </a:solidFill>
              </a:rPr>
              <a:t>apenas uma linha de código</a:t>
            </a:r>
            <a:r>
              <a:rPr lang="pt-BR" sz="4400" dirty="0"/>
              <a:t>.</a:t>
            </a:r>
            <a:br>
              <a:rPr lang="pt-BR" sz="4400" dirty="0"/>
            </a:br>
            <a:r>
              <a:rPr lang="pt-BR" sz="4400" dirty="0"/>
              <a:t>Não é necessário modificar a arquitetura da rede nem adicionar novos parâmetros.</a:t>
            </a:r>
          </a:p>
          <a:p>
            <a:r>
              <a:rPr lang="pt-BR" sz="4400" b="1" dirty="0"/>
              <a:t>Compatibilidade universal</a:t>
            </a:r>
            <a:br>
              <a:rPr lang="pt-BR" sz="4400" dirty="0"/>
            </a:br>
            <a:r>
              <a:rPr lang="pt-BR" sz="4400" dirty="0"/>
              <a:t>Pode ser aplicado em </a:t>
            </a:r>
            <a:r>
              <a:rPr lang="pt-BR" sz="4400" b="1" dirty="0">
                <a:solidFill>
                  <a:srgbClr val="0070C0"/>
                </a:solidFill>
              </a:rPr>
              <a:t>qualquer tipo de modelo</a:t>
            </a:r>
            <a:r>
              <a:rPr lang="pt-BR" sz="4400" dirty="0">
                <a:solidFill>
                  <a:srgbClr val="0070C0"/>
                </a:solidFill>
              </a:rPr>
              <a:t> </a:t>
            </a:r>
            <a:r>
              <a:rPr lang="pt-BR" sz="4400" dirty="0"/>
              <a:t>— redes convolucionais, densas ou de transferência — e até mesmo em </a:t>
            </a:r>
            <a:r>
              <a:rPr lang="pt-BR" sz="4400" b="1" dirty="0">
                <a:solidFill>
                  <a:srgbClr val="0070C0"/>
                </a:solidFill>
              </a:rPr>
              <a:t>modelos </a:t>
            </a:r>
            <a:r>
              <a:rPr lang="pt-BR" sz="4400" b="1" dirty="0" err="1">
                <a:solidFill>
                  <a:srgbClr val="0070C0"/>
                </a:solidFill>
              </a:rPr>
              <a:t>pré</a:t>
            </a:r>
            <a:r>
              <a:rPr lang="pt-BR" sz="4400" b="1" dirty="0">
                <a:solidFill>
                  <a:srgbClr val="0070C0"/>
                </a:solidFill>
              </a:rPr>
              <a:t>-treinados</a:t>
            </a:r>
            <a:r>
              <a:rPr lang="pt-BR" sz="4400" dirty="0"/>
              <a:t>, ao contrário de outros métodos de normalização que exigem pesos iniciais específicos.</a:t>
            </a:r>
          </a:p>
          <a:p>
            <a:r>
              <a:rPr lang="pt-BR" sz="4400" b="1" dirty="0"/>
              <a:t>Estabilidade do treinamento</a:t>
            </a:r>
            <a:br>
              <a:rPr lang="pt-BR" sz="4400" dirty="0"/>
            </a:br>
            <a:r>
              <a:rPr lang="pt-BR" sz="4400" dirty="0"/>
              <a:t>Ao eliminar o componente médio dos gradientes, o GC </a:t>
            </a:r>
            <a:r>
              <a:rPr lang="pt-BR" sz="4400" b="1" dirty="0">
                <a:solidFill>
                  <a:srgbClr val="00B050"/>
                </a:solidFill>
              </a:rPr>
              <a:t>reduz a variância e as oscilações </a:t>
            </a:r>
            <a:r>
              <a:rPr lang="pt-BR" sz="4400" dirty="0"/>
              <a:t>durante a otimização, evitando </a:t>
            </a:r>
            <a:r>
              <a:rPr lang="pt-BR" sz="4400" b="1" dirty="0">
                <a:solidFill>
                  <a:srgbClr val="0070C0"/>
                </a:solidFill>
              </a:rPr>
              <a:t>explosões ou desaparecimento de gradientes</a:t>
            </a:r>
            <a:r>
              <a:rPr lang="pt-BR" sz="4400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endParaRPr lang="pt-BR" sz="4000" noProof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67143C-F820-3AAC-7578-96DED8822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BO" altLang="es-B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31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C620-1EBF-38C9-5883-F71B0D82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5C611-D720-4867-D74C-7D59F39A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8B5B1-2CCF-C17F-F559-F03DABFE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noProof="0" dirty="0"/>
              <a:t>Vantagens:</a:t>
            </a:r>
          </a:p>
          <a:p>
            <a:r>
              <a:rPr lang="pt-BR" sz="2400" b="1" dirty="0"/>
              <a:t>Regularização implícita e melhor generalização</a:t>
            </a:r>
            <a:br>
              <a:rPr lang="pt-BR" sz="2400" dirty="0"/>
            </a:br>
            <a:r>
              <a:rPr lang="pt-BR" sz="2400" dirty="0"/>
              <a:t>O GC atua como um </a:t>
            </a:r>
            <a:r>
              <a:rPr lang="pt-BR" sz="2400" b="1" dirty="0">
                <a:solidFill>
                  <a:srgbClr val="0070C0"/>
                </a:solidFill>
              </a:rPr>
              <a:t>mecanismo natural de regularização</a:t>
            </a:r>
            <a:r>
              <a:rPr lang="pt-BR" sz="2400" dirty="0"/>
              <a:t>, limitando o espaço de soluções possíveis e evitando o </a:t>
            </a:r>
            <a:r>
              <a:rPr lang="pt-BR" sz="2400" i="1" dirty="0" err="1"/>
              <a:t>overfitting</a:t>
            </a:r>
            <a:r>
              <a:rPr lang="pt-BR" sz="2400" dirty="0"/>
              <a:t> sem necessidade de introduzir </a:t>
            </a:r>
            <a:r>
              <a:rPr lang="pt-BR" sz="2400" dirty="0" err="1"/>
              <a:t>hiperparâmetros</a:t>
            </a:r>
            <a:r>
              <a:rPr lang="pt-BR" sz="2400" dirty="0"/>
              <a:t> adicionais.</a:t>
            </a:r>
          </a:p>
          <a:p>
            <a:r>
              <a:rPr lang="pt-BR" sz="2400" b="1" dirty="0"/>
              <a:t>Eficiência computacional</a:t>
            </a:r>
            <a:br>
              <a:rPr lang="pt-BR" sz="2400" dirty="0"/>
            </a:br>
            <a:r>
              <a:rPr lang="pt-BR" sz="2400" dirty="0"/>
              <a:t>A operação de centralização tem </a:t>
            </a:r>
            <a:r>
              <a:rPr lang="pt-BR" sz="2400" b="1" dirty="0">
                <a:solidFill>
                  <a:srgbClr val="0070C0"/>
                </a:solidFill>
              </a:rPr>
              <a:t>custo computacional desprezível e não afeta o tempo total de treinamento.</a:t>
            </a:r>
            <a:br>
              <a:rPr lang="pt-BR" sz="2400" dirty="0"/>
            </a:br>
            <a:r>
              <a:rPr lang="pt-BR" sz="2400" dirty="0"/>
              <a:t>Os experimentos mostram </a:t>
            </a:r>
            <a:r>
              <a:rPr lang="pt-BR" sz="2400" b="1" dirty="0"/>
              <a:t>melhorias de desempenho</a:t>
            </a:r>
            <a:r>
              <a:rPr lang="pt-BR" sz="2400" dirty="0"/>
              <a:t> em múltiplos </a:t>
            </a:r>
            <a:r>
              <a:rPr lang="pt-BR" sz="2400" i="1" dirty="0" err="1"/>
              <a:t>datasets</a:t>
            </a:r>
            <a:r>
              <a:rPr lang="pt-BR" sz="2400" dirty="0"/>
              <a:t> (</a:t>
            </a:r>
            <a:r>
              <a:rPr lang="pt-BR" sz="2400" i="1" dirty="0"/>
              <a:t>CIFAR100</a:t>
            </a:r>
            <a:r>
              <a:rPr lang="pt-BR" sz="2400" dirty="0"/>
              <a:t>, </a:t>
            </a:r>
            <a:r>
              <a:rPr lang="pt-BR" sz="2400" i="1" dirty="0" err="1"/>
              <a:t>ImageNet</a:t>
            </a:r>
            <a:r>
              <a:rPr lang="pt-BR" sz="2400" dirty="0"/>
              <a:t>, </a:t>
            </a:r>
            <a:r>
              <a:rPr lang="pt-BR" sz="2400" i="1" dirty="0"/>
              <a:t>COCO</a:t>
            </a:r>
            <a:r>
              <a:rPr lang="pt-BR" sz="2400" dirty="0"/>
              <a:t>, etc.).</a:t>
            </a:r>
          </a:p>
          <a:p>
            <a:endParaRPr lang="pt-BR" sz="4000" noProof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66FB2F-C3EC-89FE-2D2D-0DC3A139D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BO" altLang="es-B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671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6D71-F1B0-8348-ECF8-4AB87FA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2BAC9-C1C1-DCCC-A0B7-BD5E5964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5436A-C2EB-EC50-08DF-BBD0261A0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b="1" dirty="0"/>
              <a:t>Desvantagens</a:t>
            </a:r>
            <a:r>
              <a:rPr lang="pt-BR" sz="3200" b="1" noProof="0" dirty="0"/>
              <a:t>:</a:t>
            </a:r>
          </a:p>
          <a:p>
            <a:pPr lvl="1"/>
            <a:r>
              <a:rPr lang="pt-BR" b="1" noProof="0" dirty="0"/>
              <a:t>Ganhos moderados</a:t>
            </a:r>
            <a:br>
              <a:rPr lang="pt-BR" noProof="0" dirty="0"/>
            </a:br>
            <a:r>
              <a:rPr lang="pt-BR" noProof="0" dirty="0"/>
              <a:t>Embora os resultados sejam consistentes, as melhorias costumam ser pequenas (entre 0,5% e 2% em precisão).</a:t>
            </a:r>
            <a:br>
              <a:rPr lang="pt-BR" noProof="0" dirty="0"/>
            </a:br>
            <a:r>
              <a:rPr lang="pt-BR" noProof="0" dirty="0"/>
              <a:t>O GC não substitui técnicas de otimização mais complexas — ele as complementa.</a:t>
            </a:r>
          </a:p>
          <a:p>
            <a:pPr lvl="1"/>
            <a:r>
              <a:rPr lang="pt-BR" b="1" noProof="0" dirty="0"/>
              <a:t>Dependência do otimizador base</a:t>
            </a:r>
            <a:br>
              <a:rPr lang="pt-BR" noProof="0" dirty="0"/>
            </a:br>
            <a:r>
              <a:rPr lang="pt-BR" noProof="0" dirty="0"/>
              <a:t>O impacto positivo do GC pode variar conforme o otimizador utilizado.</a:t>
            </a:r>
            <a:br>
              <a:rPr lang="pt-BR" noProof="0" dirty="0"/>
            </a:br>
            <a:r>
              <a:rPr lang="pt-BR" noProof="0" dirty="0"/>
              <a:t>Em otimizadores muito adaptativos (como Adam ou </a:t>
            </a:r>
            <a:r>
              <a:rPr lang="pt-BR" noProof="0" dirty="0" err="1"/>
              <a:t>RMSProp</a:t>
            </a:r>
            <a:r>
              <a:rPr lang="pt-BR" noProof="0" dirty="0"/>
              <a:t>), o efeito pode ser menos pronunciado.</a:t>
            </a:r>
          </a:p>
          <a:p>
            <a:pPr lvl="1"/>
            <a:endParaRPr lang="es-MX" sz="2800" noProof="0" dirty="0"/>
          </a:p>
          <a:p>
            <a:pPr lvl="1"/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3467779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D48BD-9809-8B29-7BA2-BB3AF1C7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F3884-7B39-82D4-D6E8-B65CC9CFA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BCED0F-9008-6C2A-D8D3-7483EBA2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b="1" dirty="0"/>
              <a:t>Desvantagens</a:t>
            </a:r>
            <a:r>
              <a:rPr lang="pt-BR" sz="3200" b="1" noProof="0" dirty="0"/>
              <a:t>:</a:t>
            </a:r>
          </a:p>
          <a:p>
            <a:pPr lvl="1"/>
            <a:r>
              <a:rPr lang="pt-BR" b="1" noProof="0" dirty="0"/>
              <a:t>Ausência de controle direto</a:t>
            </a:r>
            <a:br>
              <a:rPr lang="pt-BR" noProof="0" dirty="0"/>
            </a:br>
            <a:r>
              <a:rPr lang="pt-BR" noProof="0" dirty="0"/>
              <a:t>Por não incluir novos </a:t>
            </a:r>
            <a:r>
              <a:rPr lang="pt-BR" noProof="0" dirty="0" err="1"/>
              <a:t>hiperparâmetros</a:t>
            </a:r>
            <a:r>
              <a:rPr lang="pt-BR" noProof="0" dirty="0"/>
              <a:t>, o GC não oferece mecanismos de ajuste fino sobre a magnitude da centralização, o que limita sua personalização.</a:t>
            </a:r>
          </a:p>
          <a:p>
            <a:pPr lvl="1"/>
            <a:r>
              <a:rPr lang="pt-BR" b="1" noProof="0" dirty="0"/>
              <a:t>Evidência empírica limitada fora da visão computacional</a:t>
            </a:r>
            <a:br>
              <a:rPr lang="pt-BR" noProof="0" dirty="0"/>
            </a:br>
            <a:r>
              <a:rPr lang="pt-BR" noProof="0" dirty="0"/>
              <a:t>A maioria das avaliações foi realizada em tarefas de visão computacional (classificação, detecção, segmentação).</a:t>
            </a:r>
            <a:br>
              <a:rPr lang="pt-BR" noProof="0" dirty="0"/>
            </a:br>
            <a:r>
              <a:rPr lang="pt-BR" noProof="0" dirty="0"/>
              <a:t>Sua eficácia em domínios como processamento de linguagem natural ou séries temporais ainda requer validação adicional.</a:t>
            </a:r>
          </a:p>
          <a:p>
            <a:pPr lvl="1"/>
            <a:endParaRPr lang="es-MX" sz="2800" noProof="0" dirty="0"/>
          </a:p>
          <a:p>
            <a:pPr lvl="1"/>
            <a:endParaRPr lang="pt-BR" sz="2800" noProof="0" dirty="0"/>
          </a:p>
        </p:txBody>
      </p:sp>
    </p:spTree>
    <p:extLst>
      <p:ext uri="{BB962C8B-B14F-4D97-AF65-F5344CB8AC3E}">
        <p14:creationId xmlns:p14="http://schemas.microsoft.com/office/powerpoint/2010/main" val="2285877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Exemplo(s) de aplicação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84CA43-6D90-500E-4CDE-7E5E27595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690688"/>
            <a:ext cx="10744200" cy="34339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96911F-0E24-CB6F-83D5-BE7DD8243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220" y="5259571"/>
            <a:ext cx="379147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0AC8-EB1A-B9D8-3B68-B763ADC4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99C35-7DC3-4099-F887-A79F144D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Exemplo(s) de aplicação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41BE1F3-3DED-1877-47CA-C85FA0C73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noProof="0" dirty="0"/>
              <a:t>Avalia-se o efeito do GC em diferentes arquiteturas (</a:t>
            </a:r>
            <a:r>
              <a:rPr lang="pt-BR" sz="2000" noProof="0" dirty="0" err="1"/>
              <a:t>ResNet</a:t>
            </a:r>
            <a:r>
              <a:rPr lang="pt-BR" sz="2000" noProof="0" dirty="0"/>
              <a:t>, </a:t>
            </a:r>
            <a:r>
              <a:rPr lang="pt-BR" sz="2000" noProof="0" dirty="0" err="1"/>
              <a:t>VGG</a:t>
            </a:r>
            <a:r>
              <a:rPr lang="pt-BR" sz="2000" noProof="0" dirty="0"/>
              <a:t>, </a:t>
            </a:r>
            <a:r>
              <a:rPr lang="pt-BR" sz="2000" noProof="0" dirty="0" err="1"/>
              <a:t>DenseNet</a:t>
            </a:r>
            <a:r>
              <a:rPr lang="pt-BR" sz="2000" noProof="0" dirty="0"/>
              <a:t>, </a:t>
            </a:r>
            <a:r>
              <a:rPr lang="pt-BR" sz="2000" noProof="0" dirty="0" err="1"/>
              <a:t>ResNeXt</a:t>
            </a:r>
            <a:r>
              <a:rPr lang="pt-BR" sz="2000" noProof="0" dirty="0"/>
              <a:t>) utilizando o </a:t>
            </a:r>
            <a:r>
              <a:rPr lang="pt-BR" sz="2000" noProof="0" dirty="0" err="1"/>
              <a:t>dataset</a:t>
            </a:r>
            <a:r>
              <a:rPr lang="pt-BR" sz="2000" noProof="0" dirty="0"/>
              <a:t> CIFAR-100</a:t>
            </a:r>
          </a:p>
          <a:p>
            <a:pPr marL="0" indent="0">
              <a:buNone/>
            </a:pPr>
            <a:r>
              <a:rPr lang="pt-BR" sz="2000" b="1" noProof="0" dirty="0"/>
              <a:t>Interpretação</a:t>
            </a:r>
          </a:p>
          <a:p>
            <a:r>
              <a:rPr lang="pt-BR" sz="2000" noProof="0" dirty="0"/>
              <a:t>O </a:t>
            </a:r>
            <a:r>
              <a:rPr lang="pt-BR" sz="2000" b="1" noProof="0" dirty="0"/>
              <a:t>GC</a:t>
            </a:r>
            <a:r>
              <a:rPr lang="pt-BR" sz="2000" noProof="0" dirty="0"/>
              <a:t> melhora a </a:t>
            </a:r>
            <a:r>
              <a:rPr lang="pt-BR" sz="2000" b="1" noProof="0" dirty="0"/>
              <a:t>precisão em todas as redes</a:t>
            </a:r>
            <a:r>
              <a:rPr lang="pt-BR" sz="2000" noProof="0" dirty="0"/>
              <a:t>, mesmo em arquiteturas muito diferentes.</a:t>
            </a:r>
          </a:p>
          <a:p>
            <a:r>
              <a:rPr lang="pt-BR" sz="2000" noProof="0" dirty="0"/>
              <a:t>O ganho médio é de </a:t>
            </a:r>
            <a:r>
              <a:rPr lang="pt-BR" sz="2000" b="1" noProof="0" dirty="0"/>
              <a:t>1–2%</a:t>
            </a:r>
            <a:r>
              <a:rPr lang="pt-BR" sz="2000" noProof="0" dirty="0"/>
              <a:t>, o que é significativo no CIFAR-100.</a:t>
            </a:r>
          </a:p>
          <a:p>
            <a:pPr marL="0" indent="0">
              <a:buNone/>
            </a:pPr>
            <a:r>
              <a:rPr lang="pt-BR" sz="2000" b="1" noProof="0" dirty="0"/>
              <a:t>Conclusão</a:t>
            </a:r>
          </a:p>
          <a:p>
            <a:r>
              <a:rPr lang="pt-BR" sz="2000" noProof="0" dirty="0"/>
              <a:t>O </a:t>
            </a:r>
            <a:r>
              <a:rPr lang="pt-BR" sz="2000" b="1" noProof="0" dirty="0"/>
              <a:t>GC</a:t>
            </a:r>
            <a:r>
              <a:rPr lang="pt-BR" sz="2000" noProof="0" dirty="0"/>
              <a:t> é um método </a:t>
            </a:r>
            <a:r>
              <a:rPr lang="pt-BR" sz="2000" b="1" noProof="0" dirty="0"/>
              <a:t>geral e adaptável</a:t>
            </a:r>
            <a:r>
              <a:rPr lang="pt-BR" sz="2000" noProof="0" dirty="0"/>
              <a:t>: melhora qualquer arquitetura </a:t>
            </a:r>
            <a:r>
              <a:rPr lang="pt-BR" sz="2000" b="1" noProof="0" dirty="0"/>
              <a:t>sem necessidade de modificações</a:t>
            </a:r>
            <a:r>
              <a:rPr lang="pt-BR" sz="2000" noProof="0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47127C-25B8-FB2A-0E99-E77A89AB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691"/>
          <a:stretch>
            <a:fillRect/>
          </a:stretch>
        </p:blipFill>
        <p:spPr>
          <a:xfrm>
            <a:off x="2083008" y="4899660"/>
            <a:ext cx="7837588" cy="141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00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BB60-808A-7249-CCD0-3599E0F3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0899B-F8DC-3FCF-9AC0-C2DDB3FF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Exemplo(s) de aplicação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78357F9-B302-2858-A27D-5F94B53C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Contexto</a:t>
            </a:r>
          </a:p>
          <a:p>
            <a:r>
              <a:rPr lang="pt-BR" sz="2000" noProof="0" dirty="0"/>
              <a:t>O </a:t>
            </a:r>
            <a:r>
              <a:rPr lang="pt-BR" sz="2000" b="1" noProof="0" dirty="0"/>
              <a:t>GC</a:t>
            </a:r>
            <a:r>
              <a:rPr lang="pt-BR" sz="2000" noProof="0" dirty="0"/>
              <a:t> foi testado com vários algoritmos de otimização: </a:t>
            </a:r>
            <a:r>
              <a:rPr lang="pt-BR" sz="2000" b="1" noProof="0" dirty="0" err="1"/>
              <a:t>SGDM</a:t>
            </a:r>
            <a:r>
              <a:rPr lang="pt-BR" sz="2000" b="1" noProof="0" dirty="0"/>
              <a:t>, Adam, </a:t>
            </a:r>
            <a:r>
              <a:rPr lang="pt-BR" sz="2000" b="1" noProof="0" dirty="0" err="1"/>
              <a:t>Adagrad</a:t>
            </a:r>
            <a:r>
              <a:rPr lang="pt-BR" sz="2000" b="1" noProof="0" dirty="0"/>
              <a:t>, </a:t>
            </a:r>
            <a:r>
              <a:rPr lang="pt-BR" sz="2000" b="1" noProof="0" dirty="0" err="1"/>
              <a:t>SGDW</a:t>
            </a:r>
            <a:r>
              <a:rPr lang="pt-BR" sz="2000" b="1" noProof="0" dirty="0"/>
              <a:t> e </a:t>
            </a:r>
            <a:r>
              <a:rPr lang="pt-BR" sz="2000" b="1" noProof="0" dirty="0" err="1"/>
              <a:t>AdamW</a:t>
            </a:r>
            <a:r>
              <a:rPr lang="pt-BR" sz="2000" noProof="0" dirty="0"/>
              <a:t>.</a:t>
            </a:r>
          </a:p>
          <a:p>
            <a:pPr marL="0" indent="0">
              <a:buNone/>
            </a:pPr>
            <a:r>
              <a:rPr lang="pt-BR" sz="2000" b="1" dirty="0"/>
              <a:t>Conclusão</a:t>
            </a:r>
          </a:p>
          <a:p>
            <a:r>
              <a:rPr lang="pt-BR" sz="2000" dirty="0"/>
              <a:t>O </a:t>
            </a:r>
            <a:r>
              <a:rPr lang="pt-BR" sz="2000" b="1" dirty="0"/>
              <a:t>GC</a:t>
            </a:r>
            <a:r>
              <a:rPr lang="pt-BR" sz="2000" dirty="0"/>
              <a:t> melhora o desempenho de </a:t>
            </a:r>
            <a:r>
              <a:rPr lang="pt-BR" sz="2000" b="1" dirty="0"/>
              <a:t>todos os otimizadores</a:t>
            </a:r>
            <a:r>
              <a:rPr lang="pt-BR" sz="2000" dirty="0"/>
              <a:t>, inclusive dos </a:t>
            </a:r>
            <a:r>
              <a:rPr lang="pt-BR" sz="2000" b="1" dirty="0"/>
              <a:t>adaptativos</a:t>
            </a:r>
            <a:r>
              <a:rPr lang="pt-BR" sz="2000" dirty="0"/>
              <a:t>, confirmando sua </a:t>
            </a:r>
            <a:r>
              <a:rPr lang="pt-BR" sz="2000" b="1" dirty="0"/>
              <a:t>compatibilidade universal</a:t>
            </a:r>
            <a:r>
              <a:rPr lang="pt-BR" sz="2000" dirty="0"/>
              <a:t>.</a:t>
            </a:r>
            <a:endParaRPr lang="pt-BR" sz="2000" b="1" dirty="0"/>
          </a:p>
          <a:p>
            <a:endParaRPr lang="pt-BR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221C868-502C-5D59-EFAA-E0CF7DB894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797"/>
          <a:stretch>
            <a:fillRect/>
          </a:stretch>
        </p:blipFill>
        <p:spPr>
          <a:xfrm>
            <a:off x="2204927" y="4165600"/>
            <a:ext cx="8457713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59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89B6-5A13-78D5-6219-FF7F8EDE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52C2F-7421-00B0-F643-32E97A66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24C268F-2431-8B8C-C0A0-914A84F4F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Contexto</a:t>
            </a:r>
          </a:p>
          <a:p>
            <a:r>
              <a:rPr lang="pt-BR" sz="2000" dirty="0"/>
              <a:t>Estuda-se se o </a:t>
            </a:r>
            <a:r>
              <a:rPr lang="pt-BR" sz="2000" b="1" dirty="0"/>
              <a:t>GC</a:t>
            </a:r>
            <a:r>
              <a:rPr lang="pt-BR" sz="2000" dirty="0"/>
              <a:t> depende do </a:t>
            </a:r>
            <a:r>
              <a:rPr lang="pt-BR" sz="2000" b="1" dirty="0" err="1"/>
              <a:t>hiperparâmetro</a:t>
            </a:r>
            <a:r>
              <a:rPr lang="pt-BR" sz="2000" b="1" dirty="0"/>
              <a:t> de regularização (</a:t>
            </a:r>
            <a:r>
              <a:rPr lang="pt-BR" sz="2000" b="1" dirty="0" err="1"/>
              <a:t>weight</a:t>
            </a:r>
            <a:r>
              <a:rPr lang="pt-BR" sz="2000" b="1" dirty="0"/>
              <a:t> </a:t>
            </a:r>
            <a:r>
              <a:rPr lang="pt-BR" sz="2000" b="1" dirty="0" err="1"/>
              <a:t>decay</a:t>
            </a:r>
            <a:r>
              <a:rPr lang="pt-BR" sz="2000" b="1" dirty="0"/>
              <a:t>)</a:t>
            </a:r>
            <a:r>
              <a:rPr lang="pt-BR" sz="2000" dirty="0"/>
              <a:t>.</a:t>
            </a:r>
            <a:endParaRPr lang="es-MX" sz="2000" dirty="0"/>
          </a:p>
          <a:p>
            <a:pPr marL="0" indent="0">
              <a:buNone/>
            </a:pPr>
            <a:r>
              <a:rPr lang="pt-BR" sz="2000" b="1" dirty="0"/>
              <a:t>Conclusão</a:t>
            </a:r>
          </a:p>
          <a:p>
            <a:r>
              <a:rPr lang="pt-BR" sz="2000" dirty="0"/>
              <a:t>O </a:t>
            </a:r>
            <a:r>
              <a:rPr lang="pt-BR" sz="2000" b="1" dirty="0"/>
              <a:t>GC</a:t>
            </a:r>
            <a:r>
              <a:rPr lang="pt-BR" sz="2000" dirty="0"/>
              <a:t> mantém ou melhora a </a:t>
            </a:r>
            <a:r>
              <a:rPr lang="pt-BR" sz="2000" b="1" dirty="0"/>
              <a:t>precisão</a:t>
            </a:r>
            <a:r>
              <a:rPr lang="pt-BR" sz="2000" dirty="0"/>
              <a:t> em todos os níveis de regularização, demonstrando </a:t>
            </a:r>
            <a:r>
              <a:rPr lang="pt-BR" sz="2000" b="1" dirty="0"/>
              <a:t>robustez em relação ao </a:t>
            </a:r>
            <a:r>
              <a:rPr lang="pt-BR" sz="2000" b="1" i="1" dirty="0" err="1"/>
              <a:t>weight</a:t>
            </a:r>
            <a:r>
              <a:rPr lang="pt-BR" sz="2000" b="1" i="1" dirty="0"/>
              <a:t> </a:t>
            </a:r>
            <a:r>
              <a:rPr lang="pt-BR" sz="2000" b="1" i="1" dirty="0" err="1"/>
              <a:t>decay</a:t>
            </a:r>
            <a:r>
              <a:rPr lang="pt-BR" sz="2000" dirty="0"/>
              <a:t>.</a:t>
            </a:r>
            <a:endParaRPr lang="es-MX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0ABA57-DB80-9A1F-ADA2-CEA626B9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244"/>
          <a:stretch>
            <a:fillRect/>
          </a:stretch>
        </p:blipFill>
        <p:spPr>
          <a:xfrm>
            <a:off x="1490147" y="3850640"/>
            <a:ext cx="8558069" cy="131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34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91C8-FAA8-27FE-EA92-0826E890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618F1-753B-EC51-E919-3BD533C4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A54CE2F-1981-16B3-48CC-6F857139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Contexto</a:t>
            </a:r>
          </a:p>
          <a:p>
            <a:r>
              <a:rPr lang="pt-BR" sz="2000" dirty="0"/>
              <a:t>Avalia-se se o </a:t>
            </a:r>
            <a:r>
              <a:rPr lang="pt-BR" sz="2000" b="1" dirty="0"/>
              <a:t>GC</a:t>
            </a:r>
            <a:r>
              <a:rPr lang="pt-BR" sz="2000" dirty="0"/>
              <a:t> depende da </a:t>
            </a:r>
            <a:r>
              <a:rPr lang="pt-BR" sz="2000" b="1" dirty="0"/>
              <a:t>taxa de aprendizado (learning rate)</a:t>
            </a:r>
            <a:r>
              <a:rPr lang="pt-BR" sz="2000" dirty="0"/>
              <a:t> utilizada durante o treinamento.</a:t>
            </a:r>
          </a:p>
          <a:p>
            <a:pPr marL="0" indent="0">
              <a:buNone/>
            </a:pPr>
            <a:r>
              <a:rPr lang="pt-BR" sz="2000" b="1" dirty="0"/>
              <a:t>Conclusão</a:t>
            </a:r>
          </a:p>
          <a:p>
            <a:r>
              <a:rPr lang="pt-BR" sz="2000" dirty="0"/>
              <a:t>O </a:t>
            </a:r>
            <a:r>
              <a:rPr lang="pt-BR" sz="2000" b="1" dirty="0"/>
              <a:t>GC</a:t>
            </a:r>
            <a:r>
              <a:rPr lang="pt-BR" sz="2000" dirty="0"/>
              <a:t> funciona bem com </a:t>
            </a:r>
            <a:r>
              <a:rPr lang="pt-BR" sz="2000" b="1" dirty="0"/>
              <a:t>qualquer taxa de aprendizado</a:t>
            </a:r>
            <a:r>
              <a:rPr lang="pt-BR" sz="2000" dirty="0"/>
              <a:t>, o que </a:t>
            </a:r>
            <a:r>
              <a:rPr lang="pt-BR" sz="2000" b="1" dirty="0"/>
              <a:t>facilita seu uso</a:t>
            </a:r>
            <a:r>
              <a:rPr lang="pt-BR" sz="2000" dirty="0"/>
              <a:t> sem necessidade de reajustar </a:t>
            </a:r>
            <a:r>
              <a:rPr lang="pt-BR" sz="2000" dirty="0" err="1"/>
              <a:t>hiperparâmetros</a:t>
            </a:r>
            <a:r>
              <a:rPr lang="pt-BR" sz="2000" dirty="0"/>
              <a:t>.</a:t>
            </a:r>
          </a:p>
          <a:p>
            <a:endParaRPr lang="es-MX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2CD47A-2B0F-E529-0F0C-1E7CDEC858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579"/>
          <a:stretch>
            <a:fillRect/>
          </a:stretch>
        </p:blipFill>
        <p:spPr>
          <a:xfrm>
            <a:off x="2174510" y="4001294"/>
            <a:ext cx="7842979" cy="155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0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94A3-E8F7-540E-A1EC-43A4C0F7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B8306-E58F-19D9-A00C-D55B78C0F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9170AB7-398A-1594-EFE9-26EA1339A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59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Após avaliar o </a:t>
            </a:r>
            <a:r>
              <a:rPr lang="pt-BR" sz="2000" b="1" dirty="0"/>
              <a:t>GC</a:t>
            </a:r>
            <a:r>
              <a:rPr lang="pt-BR" sz="2000" dirty="0"/>
              <a:t> em tarefas de </a:t>
            </a:r>
            <a:r>
              <a:rPr lang="pt-BR" sz="2000" b="1" dirty="0"/>
              <a:t>classificação geral</a:t>
            </a:r>
            <a:r>
              <a:rPr lang="pt-BR" sz="2000" dirty="0"/>
              <a:t> (</a:t>
            </a:r>
            <a:r>
              <a:rPr lang="pt-BR" sz="2000" i="1" dirty="0" err="1"/>
              <a:t>CIFAR</a:t>
            </a:r>
            <a:r>
              <a:rPr lang="pt-BR" sz="2000" dirty="0"/>
              <a:t>, </a:t>
            </a:r>
            <a:r>
              <a:rPr lang="pt-BR" sz="2000" i="1" dirty="0" err="1"/>
              <a:t>ImageNet</a:t>
            </a:r>
            <a:r>
              <a:rPr lang="pt-BR" sz="2000" dirty="0"/>
              <a:t>), os autores testam sua eficácia em </a:t>
            </a:r>
            <a:r>
              <a:rPr lang="pt-BR" sz="2000" b="1" dirty="0"/>
              <a:t>tarefas de </a:t>
            </a:r>
            <a:r>
              <a:rPr lang="pt-BR" sz="2000" b="1" i="1" dirty="0"/>
              <a:t>fine-</a:t>
            </a:r>
            <a:r>
              <a:rPr lang="pt-BR" sz="2000" b="1" i="1" dirty="0" err="1"/>
              <a:t>tuning</a:t>
            </a:r>
            <a:r>
              <a:rPr lang="pt-BR" sz="2000" dirty="0"/>
              <a:t>, ou seja, quando um </a:t>
            </a:r>
            <a:r>
              <a:rPr lang="pt-BR" sz="2000" b="1" dirty="0"/>
              <a:t>modelo </a:t>
            </a:r>
            <a:r>
              <a:rPr lang="pt-BR" sz="2000" b="1" dirty="0" err="1"/>
              <a:t>pré</a:t>
            </a:r>
            <a:r>
              <a:rPr lang="pt-BR" sz="2000" b="1" dirty="0"/>
              <a:t>-treinado (ResNet-50)</a:t>
            </a:r>
            <a:r>
              <a:rPr lang="pt-BR" sz="2000" dirty="0"/>
              <a:t> é ajustado sobre </a:t>
            </a:r>
            <a:r>
              <a:rPr lang="pt-BR" sz="2000" b="1" dirty="0"/>
              <a:t>conjuntos de dados mais específicos e detalhados</a:t>
            </a:r>
            <a:r>
              <a:rPr lang="es-MX" sz="2000" dirty="0"/>
              <a:t>:</a:t>
            </a:r>
          </a:p>
          <a:p>
            <a:r>
              <a:rPr lang="es-MX" sz="2000" dirty="0" err="1"/>
              <a:t>FGVC</a:t>
            </a:r>
            <a:r>
              <a:rPr lang="es-MX" sz="2000" dirty="0"/>
              <a:t> </a:t>
            </a:r>
            <a:r>
              <a:rPr lang="es-MX" sz="2000" dirty="0" err="1"/>
              <a:t>Aircraft</a:t>
            </a:r>
            <a:r>
              <a:rPr lang="es-MX" sz="2000" dirty="0"/>
              <a:t> ✈️</a:t>
            </a:r>
          </a:p>
          <a:p>
            <a:pPr>
              <a:spcBef>
                <a:spcPts val="600"/>
              </a:spcBef>
            </a:pPr>
            <a:r>
              <a:rPr lang="es-MX" sz="2000" dirty="0"/>
              <a:t>Stanford Cars 🚗</a:t>
            </a:r>
          </a:p>
          <a:p>
            <a:pPr>
              <a:spcBef>
                <a:spcPts val="600"/>
              </a:spcBef>
            </a:pPr>
            <a:r>
              <a:rPr lang="es-MX" sz="2000" dirty="0"/>
              <a:t>Stanford </a:t>
            </a:r>
            <a:r>
              <a:rPr lang="es-MX" sz="2000" dirty="0" err="1"/>
              <a:t>Dogs</a:t>
            </a:r>
            <a:r>
              <a:rPr lang="es-MX" sz="2000" dirty="0"/>
              <a:t> 🐶</a:t>
            </a:r>
          </a:p>
          <a:p>
            <a:pPr>
              <a:spcBef>
                <a:spcPts val="600"/>
              </a:spcBef>
            </a:pPr>
            <a:r>
              <a:rPr lang="es-MX" sz="2000" dirty="0"/>
              <a:t>CUB-200-2011 (aves) 🐦</a:t>
            </a:r>
          </a:p>
          <a:p>
            <a:endParaRPr lang="es-B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751EA0-8619-F274-A63F-5711E1330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400" y="2966721"/>
            <a:ext cx="7463760" cy="33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99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5CC9-B236-76BC-9274-539BCA88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943DB-A0F3-DCBB-1857-5465C3A3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371B18A-21B3-CF39-8197-5D9B7F2D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59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O que mostra</a:t>
            </a:r>
          </a:p>
          <a:p>
            <a:pPr marL="0" indent="0">
              <a:buNone/>
            </a:pPr>
            <a:r>
              <a:rPr lang="pt-BR" sz="2000" dirty="0"/>
              <a:t>Cada gráfico apresenta a </a:t>
            </a:r>
            <a:r>
              <a:rPr lang="pt-BR" sz="2000" b="1" dirty="0"/>
              <a:t>evolução da precisão (</a:t>
            </a:r>
            <a:r>
              <a:rPr lang="pt-BR" sz="2000" b="1" dirty="0" err="1"/>
              <a:t>accuracy</a:t>
            </a:r>
            <a:r>
              <a:rPr lang="pt-BR" sz="2000" b="1" dirty="0"/>
              <a:t> %)</a:t>
            </a:r>
            <a:r>
              <a:rPr lang="pt-BR" sz="2000" dirty="0"/>
              <a:t> ao longo das </a:t>
            </a:r>
            <a:r>
              <a:rPr lang="pt-BR" sz="2000" b="1" dirty="0"/>
              <a:t>épocas de treinamento</a:t>
            </a:r>
            <a:r>
              <a:rPr lang="pt-BR" sz="2000" dirty="0"/>
              <a:t>:</a:t>
            </a:r>
          </a:p>
          <a:p>
            <a:r>
              <a:rPr lang="pt-BR" sz="2000" b="1" dirty="0"/>
              <a:t>Linha contínua:</a:t>
            </a:r>
            <a:r>
              <a:rPr lang="pt-BR" sz="2000" dirty="0"/>
              <a:t> precisão no treinamento.</a:t>
            </a:r>
          </a:p>
          <a:p>
            <a:r>
              <a:rPr lang="pt-BR" sz="2000" b="1" dirty="0"/>
              <a:t>Linha pontilhada:</a:t>
            </a:r>
            <a:r>
              <a:rPr lang="pt-BR" sz="2000" dirty="0"/>
              <a:t> precisão no teste (</a:t>
            </a:r>
            <a:r>
              <a:rPr lang="pt-BR" sz="2000" i="1" dirty="0" err="1"/>
              <a:t>testing</a:t>
            </a:r>
            <a:r>
              <a:rPr lang="pt-BR" sz="2000" dirty="0"/>
              <a:t>).</a:t>
            </a:r>
          </a:p>
          <a:p>
            <a:r>
              <a:rPr lang="pt-BR" sz="2000" b="1" dirty="0"/>
              <a:t>Preto:</a:t>
            </a:r>
            <a:r>
              <a:rPr lang="pt-BR" sz="2000" dirty="0"/>
              <a:t> treinamento padrão com </a:t>
            </a:r>
            <a:r>
              <a:rPr lang="pt-BR" sz="2000" b="1" dirty="0" err="1"/>
              <a:t>SGDM</a:t>
            </a:r>
            <a:r>
              <a:rPr lang="pt-BR" sz="2000" dirty="0"/>
              <a:t>.</a:t>
            </a:r>
          </a:p>
          <a:p>
            <a:r>
              <a:rPr lang="pt-BR" sz="2000" b="1" dirty="0"/>
              <a:t>Vermelho:</a:t>
            </a:r>
            <a:r>
              <a:rPr lang="pt-BR" sz="2000" dirty="0"/>
              <a:t> treinamento com </a:t>
            </a:r>
            <a:r>
              <a:rPr lang="pt-BR" sz="2000" b="1" dirty="0" err="1"/>
              <a:t>SGDM</a:t>
            </a:r>
            <a:r>
              <a:rPr lang="pt-BR" sz="2000" b="1" dirty="0"/>
              <a:t> + GC</a:t>
            </a:r>
            <a:r>
              <a:rPr lang="pt-BR" sz="20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D26954-62DB-97EB-994C-21EDE6D4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474"/>
          <a:stretch>
            <a:fillRect/>
          </a:stretch>
        </p:blipFill>
        <p:spPr>
          <a:xfrm>
            <a:off x="1272540" y="4268860"/>
            <a:ext cx="9646920" cy="248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62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18889-DEC2-0BC7-35B6-F7655CA3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CBC9F-A77A-ECDC-78AB-541E683C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0E8FF7F-9CF2-C7B9-396F-5A5A2C745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281737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sz="8000" b="1" dirty="0"/>
              <a:t>Interpretação</a:t>
            </a:r>
          </a:p>
          <a:p>
            <a:pPr marL="0" indent="0">
              <a:buNone/>
            </a:pPr>
            <a:r>
              <a:rPr lang="pt-BR" sz="8000" dirty="0"/>
              <a:t>Nos quatro </a:t>
            </a:r>
            <a:r>
              <a:rPr lang="pt-BR" sz="8000" i="1" dirty="0" err="1"/>
              <a:t>datasets</a:t>
            </a:r>
            <a:r>
              <a:rPr lang="pt-BR" sz="8000" dirty="0"/>
              <a:t>, as </a:t>
            </a:r>
            <a:r>
              <a:rPr lang="pt-BR" sz="8000" b="1" dirty="0"/>
              <a:t>curvas vermelhas (com GC)</a:t>
            </a:r>
            <a:r>
              <a:rPr lang="pt-BR" sz="8000" dirty="0"/>
              <a:t> ficam </a:t>
            </a:r>
            <a:r>
              <a:rPr lang="pt-BR" sz="8000" b="1" dirty="0"/>
              <a:t>acima das pretas</a:t>
            </a:r>
            <a:r>
              <a:rPr lang="pt-BR" sz="8000" dirty="0"/>
              <a:t> desde as primeiras épocas.</a:t>
            </a:r>
            <a:br>
              <a:rPr lang="pt-BR" sz="8000" dirty="0"/>
            </a:br>
            <a:r>
              <a:rPr lang="pt-BR" sz="8000" dirty="0"/>
              <a:t>→ O </a:t>
            </a:r>
            <a:r>
              <a:rPr lang="pt-BR" sz="8000" b="1" dirty="0"/>
              <a:t>GC</a:t>
            </a:r>
            <a:r>
              <a:rPr lang="pt-BR" sz="8000" dirty="0"/>
              <a:t> permite </a:t>
            </a:r>
            <a:r>
              <a:rPr lang="pt-BR" sz="8000" b="1" dirty="0"/>
              <a:t>aprender mais rápido</a:t>
            </a:r>
            <a:r>
              <a:rPr lang="pt-BR" sz="8000" dirty="0"/>
              <a:t> e alcançar </a:t>
            </a:r>
            <a:r>
              <a:rPr lang="pt-BR" sz="8000" b="1" dirty="0"/>
              <a:t>maior precisão final</a:t>
            </a:r>
            <a:r>
              <a:rPr lang="pt-BR" sz="8000" dirty="0"/>
              <a:t>.</a:t>
            </a:r>
          </a:p>
          <a:p>
            <a:pPr marL="0" indent="0">
              <a:buNone/>
            </a:pPr>
            <a:r>
              <a:rPr lang="pt-BR" sz="8000" dirty="0"/>
              <a:t>A </a:t>
            </a:r>
            <a:r>
              <a:rPr lang="pt-BR" sz="8000" b="1" dirty="0"/>
              <a:t>linha pontilhada vermelha (teste)</a:t>
            </a:r>
            <a:r>
              <a:rPr lang="pt-BR" sz="8000" dirty="0"/>
              <a:t> também se estabiliza antes e atinge valores mais altos.</a:t>
            </a:r>
            <a:br>
              <a:rPr lang="pt-BR" sz="8000" dirty="0"/>
            </a:br>
            <a:r>
              <a:rPr lang="pt-BR" sz="8000" dirty="0"/>
              <a:t>→ O </a:t>
            </a:r>
            <a:r>
              <a:rPr lang="pt-BR" sz="8000" b="1" dirty="0"/>
              <a:t>GC</a:t>
            </a:r>
            <a:r>
              <a:rPr lang="pt-BR" sz="8000" dirty="0"/>
              <a:t> melhora a </a:t>
            </a:r>
            <a:r>
              <a:rPr lang="pt-BR" sz="8000" b="1" dirty="0"/>
              <a:t>generalização do modelo</a:t>
            </a:r>
            <a:r>
              <a:rPr lang="pt-BR" sz="8000" dirty="0"/>
              <a:t>, não apenas o aprendizado no treinamento.</a:t>
            </a:r>
          </a:p>
          <a:p>
            <a:pPr marL="0" indent="0">
              <a:buNone/>
            </a:pPr>
            <a:r>
              <a:rPr lang="pt-BR" sz="8000" dirty="0"/>
              <a:t>A diferença é especialmente perceptível em </a:t>
            </a:r>
            <a:r>
              <a:rPr lang="pt-BR" sz="8000" b="1" dirty="0"/>
              <a:t>Stanford Dogs</a:t>
            </a:r>
            <a:r>
              <a:rPr lang="pt-BR" sz="8000" dirty="0"/>
              <a:t> e </a:t>
            </a:r>
            <a:r>
              <a:rPr lang="pt-BR" sz="8000" b="1" dirty="0"/>
              <a:t>CUB-200-2011</a:t>
            </a:r>
            <a:r>
              <a:rPr lang="pt-BR" sz="8000" dirty="0"/>
              <a:t>, onde o aprendizado sem GC é mais irregular.</a:t>
            </a:r>
          </a:p>
          <a:p>
            <a:pPr marL="0" indent="0">
              <a:buNone/>
            </a:pPr>
            <a:r>
              <a:rPr lang="pt-BR" sz="8000" b="1" dirty="0"/>
              <a:t>O que demonstra</a:t>
            </a:r>
            <a:endParaRPr lang="pt-BR" sz="8000" dirty="0"/>
          </a:p>
          <a:p>
            <a:r>
              <a:rPr lang="pt-BR" sz="8000" dirty="0"/>
              <a:t>O </a:t>
            </a:r>
            <a:r>
              <a:rPr lang="pt-BR" sz="8000" b="1" dirty="0"/>
              <a:t>GC</a:t>
            </a:r>
            <a:r>
              <a:rPr lang="pt-BR" sz="8000" dirty="0"/>
              <a:t> acelera a </a:t>
            </a:r>
            <a:r>
              <a:rPr lang="pt-BR" sz="8000" b="1" dirty="0"/>
              <a:t>convergência</a:t>
            </a:r>
            <a:r>
              <a:rPr lang="pt-BR" sz="8000" dirty="0"/>
              <a:t> no treinamento de modelos </a:t>
            </a:r>
            <a:r>
              <a:rPr lang="pt-BR" sz="8000" dirty="0" err="1"/>
              <a:t>pré</a:t>
            </a:r>
            <a:r>
              <a:rPr lang="pt-BR" sz="8000" dirty="0"/>
              <a:t>-treinados.</a:t>
            </a:r>
          </a:p>
          <a:p>
            <a:r>
              <a:rPr lang="pt-BR" sz="8000" dirty="0"/>
              <a:t>Melhora a </a:t>
            </a:r>
            <a:r>
              <a:rPr lang="pt-BR" sz="8000" b="1" dirty="0"/>
              <a:t>precisão em teste</a:t>
            </a:r>
            <a:r>
              <a:rPr lang="pt-BR" sz="8000" dirty="0"/>
              <a:t> em todas as tarefas de </a:t>
            </a:r>
            <a:r>
              <a:rPr lang="pt-BR" sz="8000" b="1" dirty="0"/>
              <a:t>classificação detalhada</a:t>
            </a:r>
            <a:r>
              <a:rPr lang="pt-BR" sz="8000" dirty="0"/>
              <a:t>.</a:t>
            </a:r>
          </a:p>
          <a:p>
            <a:r>
              <a:rPr lang="pt-BR" sz="8000" dirty="0"/>
              <a:t>É </a:t>
            </a:r>
            <a:r>
              <a:rPr lang="pt-BR" sz="8000" b="1" dirty="0"/>
              <a:t>robusto</a:t>
            </a:r>
            <a:r>
              <a:rPr lang="pt-BR" sz="8000" dirty="0"/>
              <a:t> em diferentes domínios de dados (veículos, animais, aves, aviões).</a:t>
            </a:r>
          </a:p>
          <a:p>
            <a:pPr>
              <a:spcBef>
                <a:spcPts val="600"/>
              </a:spcBef>
            </a:pPr>
            <a:r>
              <a:rPr lang="pt-BR" sz="8000" dirty="0"/>
              <a:t>Reforça o mostrado na </a:t>
            </a:r>
            <a:r>
              <a:rPr lang="pt-BR" sz="8000" b="1" dirty="0"/>
              <a:t>Tabela 7</a:t>
            </a:r>
            <a:r>
              <a:rPr lang="pt-BR" sz="8000" dirty="0"/>
              <a:t>, onde os ganhos de precisão variam de </a:t>
            </a:r>
            <a:r>
              <a:rPr lang="pt-BR" sz="8000" b="1" dirty="0"/>
              <a:t>+1% a +2%</a:t>
            </a:r>
            <a:endParaRPr lang="es-B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DEB05E-330A-A4FD-E453-AD658A0B6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4" t="7776" r="73539" b="42473"/>
          <a:stretch>
            <a:fillRect/>
          </a:stretch>
        </p:blipFill>
        <p:spPr>
          <a:xfrm>
            <a:off x="9589163" y="44854"/>
            <a:ext cx="1764635" cy="171773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DD2A25-CA91-E446-D999-2444A8BF9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93" t="7600" r="50000" b="42649"/>
          <a:stretch>
            <a:fillRect/>
          </a:stretch>
        </p:blipFill>
        <p:spPr>
          <a:xfrm>
            <a:off x="9589166" y="1711272"/>
            <a:ext cx="1764632" cy="171772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62EE96-024D-B5B8-FBDA-CF9592D1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6384" r="27093" b="43865"/>
          <a:stretch>
            <a:fillRect/>
          </a:stretch>
        </p:blipFill>
        <p:spPr>
          <a:xfrm>
            <a:off x="9589167" y="3377691"/>
            <a:ext cx="1764631" cy="17177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39C8314-23FD-443B-D362-12A7AF5EF4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647" t="6663" r="3446" b="43586"/>
          <a:stretch>
            <a:fillRect/>
          </a:stretch>
        </p:blipFill>
        <p:spPr>
          <a:xfrm>
            <a:off x="9589168" y="5137484"/>
            <a:ext cx="1764631" cy="171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989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DB1D-4BAA-455E-874B-B2A84AE9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58DDE-4D0E-B8BB-200E-E3F70D5F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CC11A81-85E5-CF44-991E-61DDADFC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96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Utilizam-se </a:t>
            </a:r>
            <a:r>
              <a:rPr lang="pt-BR" sz="2000" b="1" dirty="0" err="1"/>
              <a:t>datasets</a:t>
            </a:r>
            <a:r>
              <a:rPr lang="pt-BR" sz="2000" b="1" dirty="0"/>
              <a:t> com classes visualmente muito semelhantes</a:t>
            </a:r>
            <a:r>
              <a:rPr lang="pt-BR" sz="2000" dirty="0"/>
              <a:t> para testar a </a:t>
            </a:r>
            <a:r>
              <a:rPr lang="pt-BR" sz="2000" b="1" dirty="0"/>
              <a:t>capacidade de generalização</a:t>
            </a:r>
            <a:r>
              <a:rPr lang="pt-BR" sz="2000" dirty="0"/>
              <a:t> do </a:t>
            </a:r>
            <a:r>
              <a:rPr lang="pt-BR" sz="2000" b="1" dirty="0"/>
              <a:t>GC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r>
              <a:rPr lang="pt-BR" sz="2000" b="1" dirty="0"/>
              <a:t>Contexto</a:t>
            </a:r>
          </a:p>
          <a:p>
            <a:r>
              <a:rPr lang="pt-BR" sz="2000" dirty="0"/>
              <a:t>Resultados do </a:t>
            </a:r>
            <a:r>
              <a:rPr lang="pt-BR" sz="2000" i="1" dirty="0"/>
              <a:t>fine-</a:t>
            </a:r>
            <a:r>
              <a:rPr lang="pt-BR" sz="2000" i="1" dirty="0" err="1"/>
              <a:t>tuning</a:t>
            </a:r>
            <a:r>
              <a:rPr lang="pt-BR" sz="2000" dirty="0"/>
              <a:t> com e sem </a:t>
            </a:r>
            <a:r>
              <a:rPr lang="pt-BR" sz="2000" b="1" dirty="0"/>
              <a:t>GC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r>
              <a:rPr lang="pt-BR" sz="2000" b="1" dirty="0"/>
              <a:t>Conclusão</a:t>
            </a:r>
          </a:p>
          <a:p>
            <a:r>
              <a:rPr lang="pt-BR" sz="2000" dirty="0"/>
              <a:t>O </a:t>
            </a:r>
            <a:r>
              <a:rPr lang="pt-BR" sz="2000" b="1" dirty="0"/>
              <a:t>GC</a:t>
            </a:r>
            <a:r>
              <a:rPr lang="pt-BR" sz="2000" dirty="0"/>
              <a:t> melhora a </a:t>
            </a:r>
            <a:r>
              <a:rPr lang="pt-BR" sz="2000" b="1" dirty="0"/>
              <a:t>precisão entre 1% e 2%</a:t>
            </a:r>
            <a:r>
              <a:rPr lang="pt-BR" sz="2000" dirty="0"/>
              <a:t>, mesmo em </a:t>
            </a:r>
            <a:r>
              <a:rPr lang="pt-BR" sz="2000" i="1" dirty="0"/>
              <a:t>fine-</a:t>
            </a:r>
            <a:r>
              <a:rPr lang="pt-BR" sz="2000" i="1" dirty="0" err="1"/>
              <a:t>tuning</a:t>
            </a:r>
            <a:r>
              <a:rPr lang="pt-BR" sz="2000" dirty="0"/>
              <a:t> com </a:t>
            </a:r>
            <a:r>
              <a:rPr lang="pt-BR" sz="2000" b="1" dirty="0"/>
              <a:t>modelos </a:t>
            </a:r>
            <a:r>
              <a:rPr lang="pt-BR" sz="2000" b="1" dirty="0" err="1"/>
              <a:t>pré</a:t>
            </a:r>
            <a:r>
              <a:rPr lang="pt-BR" sz="2000" b="1" dirty="0"/>
              <a:t>-treinados</a:t>
            </a:r>
            <a:r>
              <a:rPr lang="pt-BR" sz="2000" dirty="0"/>
              <a:t>, confirmando sua </a:t>
            </a:r>
            <a:r>
              <a:rPr lang="pt-BR" sz="2000" b="1" dirty="0"/>
              <a:t>compatibilidade e efetividade universal</a:t>
            </a:r>
            <a:r>
              <a:rPr lang="pt-BR" sz="2000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BECF42-663E-A556-E7CB-3403A1F7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334"/>
          <a:stretch>
            <a:fillRect/>
          </a:stretch>
        </p:blipFill>
        <p:spPr>
          <a:xfrm>
            <a:off x="2079626" y="4350158"/>
            <a:ext cx="8032747" cy="245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93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FD73-08F4-E329-CF60-73B467D9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7629B-2373-D78E-B328-8209312C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0BEE0E3-2D42-AE6F-CBB0-10CA82B7F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Contexto</a:t>
            </a:r>
          </a:p>
          <a:p>
            <a:r>
              <a:rPr lang="pt-BR" sz="2000" dirty="0"/>
              <a:t>Avalia-se o </a:t>
            </a:r>
            <a:r>
              <a:rPr lang="pt-BR" sz="2000" b="1" dirty="0"/>
              <a:t>impacto do GC</a:t>
            </a:r>
            <a:r>
              <a:rPr lang="pt-BR" sz="2000" dirty="0"/>
              <a:t> na </a:t>
            </a:r>
            <a:r>
              <a:rPr lang="pt-BR" sz="2000" b="1" dirty="0"/>
              <a:t>detecção de objetos</a:t>
            </a:r>
            <a:r>
              <a:rPr lang="pt-BR" sz="2000" dirty="0"/>
              <a:t>, uma tarefa mais complexa do que a classificação.</a:t>
            </a:r>
          </a:p>
          <a:p>
            <a:pPr marL="0" indent="0">
              <a:buNone/>
            </a:pPr>
            <a:r>
              <a:rPr lang="pt-BR" sz="2000" b="1" dirty="0"/>
              <a:t>Conclusão</a:t>
            </a:r>
          </a:p>
          <a:p>
            <a:r>
              <a:rPr lang="pt-BR" sz="2000" dirty="0"/>
              <a:t>O </a:t>
            </a:r>
            <a:r>
              <a:rPr lang="pt-BR" sz="2000" b="1" dirty="0"/>
              <a:t>GC</a:t>
            </a:r>
            <a:r>
              <a:rPr lang="pt-BR" sz="2000" dirty="0"/>
              <a:t> aumenta a </a:t>
            </a:r>
            <a:r>
              <a:rPr lang="pt-BR" sz="2000" b="1" dirty="0"/>
              <a:t>precisão média (AP)</a:t>
            </a:r>
            <a:r>
              <a:rPr lang="pt-BR" sz="2000" dirty="0"/>
              <a:t> em </a:t>
            </a:r>
            <a:r>
              <a:rPr lang="pt-BR" sz="2000" b="1" dirty="0"/>
              <a:t>todos os modelos</a:t>
            </a:r>
            <a:r>
              <a:rPr lang="pt-BR" sz="2000" dirty="0"/>
              <a:t>, inclusive em </a:t>
            </a:r>
            <a:r>
              <a:rPr lang="pt-BR" sz="2000" b="1" dirty="0"/>
              <a:t>arquiteturas muito grandes</a:t>
            </a:r>
            <a:r>
              <a:rPr lang="pt-BR" sz="2000" dirty="0"/>
              <a:t>, resultando em um </a:t>
            </a:r>
            <a:r>
              <a:rPr lang="pt-BR" sz="2000" b="1" dirty="0"/>
              <a:t>treinamento mais estável em tarefas de detecção</a:t>
            </a:r>
            <a:r>
              <a:rPr lang="pt-BR" sz="20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28FFAE-A2F1-923A-D04F-2BD87D79D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460"/>
          <a:stretch>
            <a:fillRect/>
          </a:stretch>
        </p:blipFill>
        <p:spPr>
          <a:xfrm>
            <a:off x="2677347" y="4001294"/>
            <a:ext cx="7335274" cy="153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17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DBEF-B574-2B32-BC9B-E19FA489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89ABB-6C4B-EA25-6511-2A99C6BB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Exemplo(s) de aplicação</a:t>
            </a:r>
            <a:endParaRPr lang="pt-BR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9309AA0-66B8-C193-17C7-BCAD198F4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Contexto</a:t>
            </a:r>
          </a:p>
          <a:p>
            <a:r>
              <a:rPr lang="pt-BR" sz="2000" dirty="0"/>
              <a:t>Avalia-se o </a:t>
            </a:r>
            <a:r>
              <a:rPr lang="pt-BR" sz="2000" b="1" dirty="0"/>
              <a:t>GC</a:t>
            </a:r>
            <a:r>
              <a:rPr lang="pt-BR" sz="2000" dirty="0"/>
              <a:t> simultaneamente em </a:t>
            </a:r>
            <a:r>
              <a:rPr lang="pt-BR" sz="2000" b="1" dirty="0"/>
              <a:t>detecção (APᵇ)</a:t>
            </a:r>
            <a:r>
              <a:rPr lang="pt-BR" sz="2000" dirty="0"/>
              <a:t> e </a:t>
            </a:r>
            <a:r>
              <a:rPr lang="pt-BR" sz="2000" b="1" dirty="0"/>
              <a:t>segmentação (APᵐ)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r>
              <a:rPr lang="pt-BR" sz="2000" b="1" dirty="0"/>
              <a:t>Conclusão</a:t>
            </a:r>
          </a:p>
          <a:p>
            <a:r>
              <a:rPr lang="pt-BR" sz="2000" dirty="0"/>
              <a:t>O </a:t>
            </a:r>
            <a:r>
              <a:rPr lang="pt-BR" sz="2000" b="1" dirty="0"/>
              <a:t>GC</a:t>
            </a:r>
            <a:r>
              <a:rPr lang="pt-BR" sz="2000" dirty="0"/>
              <a:t> melhora tanto a </a:t>
            </a:r>
            <a:r>
              <a:rPr lang="pt-BR" sz="2000" b="1" dirty="0"/>
              <a:t>detecção</a:t>
            </a:r>
            <a:r>
              <a:rPr lang="pt-BR" sz="2000" dirty="0"/>
              <a:t> quanto a </a:t>
            </a:r>
            <a:r>
              <a:rPr lang="pt-BR" sz="2000" b="1" dirty="0"/>
              <a:t>segmentação</a:t>
            </a:r>
            <a:r>
              <a:rPr lang="pt-BR" sz="2000" dirty="0"/>
              <a:t>, confirmando que seu </a:t>
            </a:r>
            <a:r>
              <a:rPr lang="pt-BR" sz="2000" b="1" dirty="0"/>
              <a:t>efeito positivo se estende além da classificação</a:t>
            </a:r>
            <a:r>
              <a:rPr lang="pt-BR" sz="2000" dirty="0"/>
              <a:t>.</a:t>
            </a:r>
            <a:br>
              <a:rPr lang="pt-BR" sz="2000" dirty="0"/>
            </a:br>
            <a:r>
              <a:rPr lang="pt-BR" sz="2000" dirty="0"/>
              <a:t>Em </a:t>
            </a:r>
            <a:r>
              <a:rPr lang="pt-BR" sz="2000" b="1" dirty="0"/>
              <a:t>visão computacional complexa</a:t>
            </a:r>
            <a:r>
              <a:rPr lang="pt-BR" sz="2000" dirty="0"/>
              <a:t>, </a:t>
            </a:r>
            <a:r>
              <a:rPr lang="pt-BR" sz="2000" b="1" dirty="0"/>
              <a:t>pequenas melhorias de AP (~0,5–1,0)</a:t>
            </a:r>
            <a:r>
              <a:rPr lang="pt-BR" sz="2000" dirty="0"/>
              <a:t> são </a:t>
            </a:r>
            <a:r>
              <a:rPr lang="pt-BR" sz="2000" b="1" dirty="0"/>
              <a:t>significativas</a:t>
            </a:r>
            <a:r>
              <a:rPr lang="pt-BR" sz="20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8F939F-26BE-385A-26D9-5EF4D74599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691" b="17327"/>
          <a:stretch>
            <a:fillRect/>
          </a:stretch>
        </p:blipFill>
        <p:spPr>
          <a:xfrm>
            <a:off x="2120214" y="4270057"/>
            <a:ext cx="7951572" cy="204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026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0B27-8994-D7D7-E5DF-F4EF27F7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DF6D0-D82E-0E10-982B-44828D20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Comparação com outros algoritmos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7A57398-DE6E-F51A-1BDE-538BE7CF3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</a:t>
            </a:r>
            <a:r>
              <a:rPr lang="pt-BR" dirty="0"/>
              <a:t>O método </a:t>
            </a:r>
            <a:r>
              <a:rPr lang="pt-BR" dirty="0" err="1"/>
              <a:t>Gradient</a:t>
            </a:r>
            <a:r>
              <a:rPr lang="pt-BR" dirty="0"/>
              <a:t> </a:t>
            </a:r>
            <a:r>
              <a:rPr lang="pt-BR" dirty="0" err="1"/>
              <a:t>Centralization</a:t>
            </a:r>
            <a:r>
              <a:rPr lang="pt-BR" dirty="0"/>
              <a:t> (GC) distingue-se de outros algoritmos de otimização e normalização por sua </a:t>
            </a:r>
            <a:r>
              <a:rPr lang="pt-BR" b="1" dirty="0">
                <a:solidFill>
                  <a:srgbClr val="0070C0"/>
                </a:solidFill>
              </a:rPr>
              <a:t>simplicidade conceitual</a:t>
            </a:r>
            <a:r>
              <a:rPr lang="pt-BR" dirty="0"/>
              <a:t> e por atuar </a:t>
            </a:r>
            <a:r>
              <a:rPr lang="pt-BR" b="1" dirty="0">
                <a:solidFill>
                  <a:srgbClr val="0070C0"/>
                </a:solidFill>
              </a:rPr>
              <a:t>diretamente sobre os gradientes</a:t>
            </a:r>
            <a:r>
              <a:rPr lang="pt-BR" dirty="0"/>
              <a:t>, em vez de agir sobre as </a:t>
            </a:r>
            <a:r>
              <a:rPr lang="pt-BR" b="1" dirty="0">
                <a:solidFill>
                  <a:schemeClr val="accent2"/>
                </a:solidFill>
              </a:rPr>
              <a:t>ativações</a:t>
            </a:r>
            <a:r>
              <a:rPr lang="pt-BR" dirty="0"/>
              <a:t> ou os </a:t>
            </a:r>
            <a:r>
              <a:rPr lang="pt-BR" b="1" dirty="0">
                <a:solidFill>
                  <a:schemeClr val="accent2"/>
                </a:solidFill>
              </a:rPr>
              <a:t>pesos</a:t>
            </a:r>
            <a:r>
              <a:rPr lang="pt-BR" dirty="0"/>
              <a:t> do modelo.</a:t>
            </a:r>
          </a:p>
        </p:txBody>
      </p:sp>
    </p:spTree>
    <p:extLst>
      <p:ext uri="{BB962C8B-B14F-4D97-AF65-F5344CB8AC3E}">
        <p14:creationId xmlns:p14="http://schemas.microsoft.com/office/powerpoint/2010/main" val="14571268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2885-2B45-020A-5791-C145CDE48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82A7B-0EF3-D5FD-8B5B-29122CA5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Comparação com outros algoritmos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52452E0-544F-B6C3-2333-175191149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1. Comparação com técnicas de normalização</a:t>
            </a:r>
            <a:endParaRPr lang="pt-BR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CC4E4EC-4238-7E38-71D1-686FE954A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81210"/>
              </p:ext>
            </p:extLst>
          </p:nvPr>
        </p:nvGraphicFramePr>
        <p:xfrm>
          <a:off x="993976" y="2499995"/>
          <a:ext cx="10204048" cy="3992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13345">
                  <a:extLst>
                    <a:ext uri="{9D8B030D-6E8A-4147-A177-3AD203B41FA5}">
                      <a16:colId xmlns:a16="http://schemas.microsoft.com/office/drawing/2014/main" val="5190993"/>
                    </a:ext>
                  </a:extLst>
                </a:gridCol>
                <a:gridCol w="1632030">
                  <a:extLst>
                    <a:ext uri="{9D8B030D-6E8A-4147-A177-3AD203B41FA5}">
                      <a16:colId xmlns:a16="http://schemas.microsoft.com/office/drawing/2014/main" val="3720728425"/>
                    </a:ext>
                  </a:extLst>
                </a:gridCol>
                <a:gridCol w="3252486">
                  <a:extLst>
                    <a:ext uri="{9D8B030D-6E8A-4147-A177-3AD203B41FA5}">
                      <a16:colId xmlns:a16="http://schemas.microsoft.com/office/drawing/2014/main" val="4254112779"/>
                    </a:ext>
                  </a:extLst>
                </a:gridCol>
                <a:gridCol w="3206187">
                  <a:extLst>
                    <a:ext uri="{9D8B030D-6E8A-4147-A177-3AD203B41FA5}">
                      <a16:colId xmlns:a16="http://schemas.microsoft.com/office/drawing/2014/main" val="2265287258"/>
                    </a:ext>
                  </a:extLst>
                </a:gridCol>
              </a:tblGrid>
              <a:tr h="2581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BO" b="1" dirty="0"/>
                        <a:t>Técnica</a:t>
                      </a:r>
                      <a:endParaRPr lang="es-B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b="1" dirty="0" err="1"/>
                        <a:t>Atua</a:t>
                      </a:r>
                      <a:r>
                        <a:rPr lang="es-BO" b="1" dirty="0"/>
                        <a:t> sobre</a:t>
                      </a:r>
                      <a:endParaRPr lang="es-B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b="1" dirty="0" err="1"/>
                        <a:t>Princípio</a:t>
                      </a:r>
                      <a:endParaRPr lang="es-B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b="1" dirty="0" err="1"/>
                        <a:t>Limitações</a:t>
                      </a:r>
                      <a:endParaRPr lang="es-B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329193"/>
                  </a:ext>
                </a:extLst>
              </a:tr>
              <a:tr h="839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BO" sz="2000" b="1" dirty="0" err="1"/>
                        <a:t>Batch</a:t>
                      </a:r>
                      <a:r>
                        <a:rPr lang="es-BO" sz="2000" b="1" dirty="0"/>
                        <a:t> </a:t>
                      </a:r>
                      <a:r>
                        <a:rPr lang="es-BO" sz="2000" b="1" dirty="0" err="1"/>
                        <a:t>Normalization</a:t>
                      </a:r>
                      <a:r>
                        <a:rPr lang="es-BO" sz="2000" b="1" dirty="0"/>
                        <a:t> (</a:t>
                      </a:r>
                      <a:r>
                        <a:rPr lang="es-BO" sz="2000" b="1" dirty="0" err="1"/>
                        <a:t>BN</a:t>
                      </a:r>
                      <a:r>
                        <a:rPr lang="es-BO" sz="2000" b="1" dirty="0"/>
                        <a:t>)</a:t>
                      </a:r>
                      <a:endParaRPr lang="es-BO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dirty="0" err="1"/>
                        <a:t>Ativações</a:t>
                      </a:r>
                      <a:endParaRPr lang="es-BO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 err="1"/>
                        <a:t>Estandariza</a:t>
                      </a:r>
                      <a:r>
                        <a:rPr lang="pt-BR" sz="2000" dirty="0"/>
                        <a:t> as saídas de cada camada usando a média e a variância do </a:t>
                      </a:r>
                      <a:r>
                        <a:rPr lang="pt-BR" sz="2000" dirty="0" err="1"/>
                        <a:t>mini-lote</a:t>
                      </a:r>
                      <a:r>
                        <a:rPr lang="pt-BR" sz="2000" dirty="0"/>
                        <a:t>.</a:t>
                      </a:r>
                      <a:endParaRPr lang="es-MX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Seu desempenho depende do tamanho do lote; pode falhar com lotes pequenos.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928671"/>
                  </a:ext>
                </a:extLst>
              </a:tr>
              <a:tr h="839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BO" sz="2000" b="1"/>
                        <a:t>Weight Standardization (WS)</a:t>
                      </a:r>
                      <a:endParaRPr lang="es-BO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dirty="0"/>
                        <a:t>Pesos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Normaliza os vetores de pesos para que tenham média zero e variância unitária.</a:t>
                      </a:r>
                      <a:endParaRPr lang="es-MX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Não é compatível com modelos </a:t>
                      </a:r>
                      <a:r>
                        <a:rPr lang="pt-BR" sz="2000" dirty="0" err="1"/>
                        <a:t>pré</a:t>
                      </a:r>
                      <a:r>
                        <a:rPr lang="pt-BR" sz="2000" dirty="0"/>
                        <a:t>-treinados, pois requer pesos iniciais padronizados.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401466"/>
                  </a:ext>
                </a:extLst>
              </a:tr>
              <a:tr h="8390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BO" sz="2000" b="1" dirty="0" err="1"/>
                        <a:t>Gradient</a:t>
                      </a:r>
                      <a:r>
                        <a:rPr lang="es-BO" sz="2000" b="1" dirty="0"/>
                        <a:t> </a:t>
                      </a:r>
                      <a:r>
                        <a:rPr lang="es-BO" sz="2000" b="1" dirty="0" err="1"/>
                        <a:t>Centralization</a:t>
                      </a:r>
                      <a:r>
                        <a:rPr lang="es-BO" sz="2000" b="1" dirty="0"/>
                        <a:t> (</a:t>
                      </a:r>
                      <a:r>
                        <a:rPr lang="es-BO" sz="2000" b="1" dirty="0" err="1"/>
                        <a:t>GC</a:t>
                      </a:r>
                      <a:r>
                        <a:rPr lang="es-BO" sz="2000" b="1" dirty="0"/>
                        <a:t>)</a:t>
                      </a:r>
                      <a:endParaRPr lang="es-BO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dirty="0"/>
                        <a:t>Gradientes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Centraliza os gradientes subtraindo sua média, reduzindo a redundância direcional.</a:t>
                      </a:r>
                      <a:endParaRPr lang="es-MX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Não altera ativações nem pesos, aplica-se apenas na etapa de otimização.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638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398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C084-3DF8-CC41-C0E2-FA77A9E9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59FC3-AA67-B6BD-DC2D-C07E3466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Comparação com outros algoritmos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2991261-762F-FFE9-542A-A9CAF5515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2. Comparação com algoritmos de otimização</a:t>
            </a:r>
            <a:endParaRPr lang="es-BO" b="1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A5DF090-E35E-07F7-4E1E-9D546B3CC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538585"/>
              </p:ext>
            </p:extLst>
          </p:nvPr>
        </p:nvGraphicFramePr>
        <p:xfrm>
          <a:off x="1503262" y="2469515"/>
          <a:ext cx="9185476" cy="402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60585">
                  <a:extLst>
                    <a:ext uri="{9D8B030D-6E8A-4147-A177-3AD203B41FA5}">
                      <a16:colId xmlns:a16="http://schemas.microsoft.com/office/drawing/2014/main" val="830070914"/>
                    </a:ext>
                  </a:extLst>
                </a:gridCol>
                <a:gridCol w="3183038">
                  <a:extLst>
                    <a:ext uri="{9D8B030D-6E8A-4147-A177-3AD203B41FA5}">
                      <a16:colId xmlns:a16="http://schemas.microsoft.com/office/drawing/2014/main" val="3482709764"/>
                    </a:ext>
                  </a:extLst>
                </a:gridCol>
                <a:gridCol w="3541853">
                  <a:extLst>
                    <a:ext uri="{9D8B030D-6E8A-4147-A177-3AD203B41FA5}">
                      <a16:colId xmlns:a16="http://schemas.microsoft.com/office/drawing/2014/main" val="2823878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b="1" dirty="0" err="1"/>
                        <a:t>Otimizador</a:t>
                      </a:r>
                      <a:endParaRPr lang="es-BO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b="1" dirty="0"/>
                        <a:t>Características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b="1" dirty="0" err="1"/>
                        <a:t>Relação</a:t>
                      </a:r>
                      <a:r>
                        <a:rPr lang="es-BO" sz="2000" b="1" dirty="0"/>
                        <a:t> </a:t>
                      </a:r>
                      <a:r>
                        <a:rPr lang="es-BO" sz="2000" b="1" dirty="0" err="1"/>
                        <a:t>com</a:t>
                      </a:r>
                      <a:r>
                        <a:rPr lang="es-BO" sz="2000" b="1" dirty="0"/>
                        <a:t> o </a:t>
                      </a:r>
                      <a:r>
                        <a:rPr lang="es-BO" sz="2000" b="1" dirty="0" err="1"/>
                        <a:t>GC</a:t>
                      </a:r>
                      <a:endParaRPr lang="es-BO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807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b="1"/>
                        <a:t>SGD / SGDM</a:t>
                      </a:r>
                      <a:endParaRPr lang="es-BO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Ajusta os pesos na direção do gradiente; simples e amplamente utilizado.</a:t>
                      </a:r>
                      <a:endParaRPr lang="es-MX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O </a:t>
                      </a:r>
                      <a:r>
                        <a:rPr lang="pt-BR" sz="2000" b="1" dirty="0"/>
                        <a:t>GC</a:t>
                      </a:r>
                      <a:r>
                        <a:rPr lang="pt-BR" sz="2000" dirty="0"/>
                        <a:t> pode ser integrado diretamente, reduzindo oscilações e acelerando a convergência.</a:t>
                      </a:r>
                      <a:endParaRPr lang="es-MX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08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b="1"/>
                        <a:t>Adam</a:t>
                      </a:r>
                      <a:endParaRPr lang="es-BO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Adapta a taxa de aprendizado para cada parâmetro; rápido, porém menos estável.</a:t>
                      </a:r>
                      <a:endParaRPr lang="es-MX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O </a:t>
                      </a:r>
                      <a:r>
                        <a:rPr lang="pt-BR" sz="2000" b="1" dirty="0"/>
                        <a:t>GC</a:t>
                      </a:r>
                      <a:r>
                        <a:rPr lang="pt-BR" sz="2000" dirty="0"/>
                        <a:t> melhora sua estabilidade sem afetar sua adaptabilidade.</a:t>
                      </a:r>
                      <a:endParaRPr lang="es-MX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29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sz="2000" b="1"/>
                        <a:t>Adagrad / RMSProp</a:t>
                      </a:r>
                      <a:endParaRPr lang="es-BO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Ajustam dinamicamente a taxa de aprendizado acumulando gradientes.</a:t>
                      </a:r>
                      <a:endParaRPr lang="es-MX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O </a:t>
                      </a:r>
                      <a:r>
                        <a:rPr lang="pt-BR" sz="2000" b="1" dirty="0"/>
                        <a:t>GC</a:t>
                      </a:r>
                      <a:r>
                        <a:rPr lang="pt-BR" sz="2000" dirty="0"/>
                        <a:t> suaviza os gradientes, permitindo atualizações mais consistentes.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531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7004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2C1E-589F-3FAB-E53C-091B12F3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D2B44-3DA5-A893-B3B5-FEEB79B18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Comparação com outros algoritmos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E36BDE0-C1B1-0436-3526-EC0A3214C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b="1" dirty="0"/>
              <a:t>3. Situações em que o GC se destaca</a:t>
            </a:r>
            <a:endParaRPr lang="pt-BR" dirty="0"/>
          </a:p>
          <a:p>
            <a:r>
              <a:rPr lang="pt-BR" b="1" dirty="0"/>
              <a:t>Treinamentos com lotes pequenos:</a:t>
            </a:r>
            <a:br>
              <a:rPr lang="pt-BR" dirty="0"/>
            </a:br>
            <a:r>
              <a:rPr lang="pt-BR" dirty="0"/>
              <a:t>Diferente do </a:t>
            </a:r>
            <a:r>
              <a:rPr lang="pt-BR" i="1" dirty="0"/>
              <a:t>Batch </a:t>
            </a:r>
            <a:r>
              <a:rPr lang="pt-BR" i="1" dirty="0" err="1"/>
              <a:t>Normalization</a:t>
            </a:r>
            <a:r>
              <a:rPr lang="pt-BR" i="1" dirty="0"/>
              <a:t> (BN)</a:t>
            </a:r>
            <a:r>
              <a:rPr lang="pt-BR" dirty="0"/>
              <a:t>, o GC não depende do tamanho do </a:t>
            </a:r>
            <a:r>
              <a:rPr lang="pt-BR" dirty="0" err="1"/>
              <a:t>mini-lote</a:t>
            </a:r>
            <a:r>
              <a:rPr lang="pt-BR" dirty="0"/>
              <a:t>, mantendo a estabilidade mesmo com poucos dados por iteração.</a:t>
            </a:r>
          </a:p>
          <a:p>
            <a:r>
              <a:rPr lang="pt-BR" b="1" dirty="0"/>
              <a:t>Modelos </a:t>
            </a:r>
            <a:r>
              <a:rPr lang="pt-BR" b="1" dirty="0" err="1"/>
              <a:t>pré</a:t>
            </a:r>
            <a:r>
              <a:rPr lang="pt-BR" b="1" dirty="0"/>
              <a:t>-treinados:</a:t>
            </a:r>
            <a:br>
              <a:rPr lang="pt-BR" dirty="0"/>
            </a:br>
            <a:r>
              <a:rPr lang="pt-BR" dirty="0"/>
              <a:t>Pode ser aplicado diretamente em tarefas de </a:t>
            </a:r>
            <a:r>
              <a:rPr lang="pt-BR" i="1" dirty="0"/>
              <a:t>fine-</a:t>
            </a:r>
            <a:r>
              <a:rPr lang="pt-BR" i="1" dirty="0" err="1"/>
              <a:t>tuning</a:t>
            </a:r>
            <a:r>
              <a:rPr lang="pt-BR" dirty="0"/>
              <a:t>, pois </a:t>
            </a:r>
            <a:r>
              <a:rPr lang="pt-BR" b="1" dirty="0">
                <a:solidFill>
                  <a:srgbClr val="0070C0"/>
                </a:solidFill>
              </a:rPr>
              <a:t>não exige pesos inicializados de forma normalizada</a:t>
            </a:r>
            <a:r>
              <a:rPr lang="pt-BR" dirty="0"/>
              <a:t>, ao contrário do </a:t>
            </a:r>
            <a:r>
              <a:rPr lang="pt-BR" i="1" dirty="0" err="1"/>
              <a:t>Weight</a:t>
            </a:r>
            <a:r>
              <a:rPr lang="pt-BR" i="1" dirty="0"/>
              <a:t> </a:t>
            </a:r>
            <a:r>
              <a:rPr lang="pt-BR" i="1" dirty="0" err="1"/>
              <a:t>Standardization</a:t>
            </a:r>
            <a:r>
              <a:rPr lang="pt-BR" i="1" dirty="0"/>
              <a:t> (WS)</a:t>
            </a:r>
            <a:r>
              <a:rPr lang="pt-BR" dirty="0"/>
              <a:t>.</a:t>
            </a:r>
          </a:p>
          <a:p>
            <a:r>
              <a:rPr lang="pt-BR" b="1" dirty="0"/>
              <a:t>Redes profundas ou com gradientes instáveis:</a:t>
            </a:r>
            <a:br>
              <a:rPr lang="pt-BR" dirty="0"/>
            </a:br>
            <a:r>
              <a:rPr lang="pt-BR" dirty="0"/>
              <a:t>O GC reduz a variabilidade e previne </a:t>
            </a:r>
            <a:r>
              <a:rPr lang="pt-BR" b="1" dirty="0">
                <a:solidFill>
                  <a:srgbClr val="0070C0"/>
                </a:solidFill>
              </a:rPr>
              <a:t>explosões de gradiente</a:t>
            </a:r>
            <a:r>
              <a:rPr lang="pt-BR" dirty="0"/>
              <a:t>, favorecendo uma </a:t>
            </a:r>
            <a:r>
              <a:rPr lang="pt-BR" b="1" dirty="0">
                <a:solidFill>
                  <a:srgbClr val="0070C0"/>
                </a:solidFill>
              </a:rPr>
              <a:t>convergência mais estável</a:t>
            </a:r>
            <a:r>
              <a:rPr lang="pt-BR" dirty="0"/>
              <a:t>.</a:t>
            </a:r>
          </a:p>
          <a:p>
            <a:r>
              <a:rPr lang="pt-BR" b="1" dirty="0"/>
              <a:t>Cenários com recursos limitados:</a:t>
            </a:r>
            <a:br>
              <a:rPr lang="pt-BR" dirty="0"/>
            </a:br>
            <a:r>
              <a:rPr lang="pt-BR" dirty="0"/>
              <a:t>Sua implementação é </a:t>
            </a:r>
            <a:r>
              <a:rPr lang="pt-BR" b="1" dirty="0">
                <a:solidFill>
                  <a:srgbClr val="0070C0"/>
                </a:solidFill>
              </a:rPr>
              <a:t>extremamente leve</a:t>
            </a:r>
            <a:r>
              <a:rPr lang="pt-BR" dirty="0"/>
              <a:t>, sem custos adicionais de </a:t>
            </a:r>
            <a:r>
              <a:rPr lang="pt-BR" b="1" dirty="0">
                <a:solidFill>
                  <a:srgbClr val="00B0F0"/>
                </a:solidFill>
              </a:rPr>
              <a:t>memória</a:t>
            </a:r>
            <a:r>
              <a:rPr lang="pt-BR" dirty="0"/>
              <a:t> ou </a:t>
            </a:r>
            <a:r>
              <a:rPr lang="pt-BR" b="1" dirty="0">
                <a:solidFill>
                  <a:srgbClr val="00B0F0"/>
                </a:solidFill>
              </a:rPr>
              <a:t>tempo de computação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018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noProof="0" dirty="0"/>
              <a:t>Perguntas?</a:t>
            </a:r>
            <a:endParaRPr lang="pt-BR" sz="6600" b="1" i="1" noProof="0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Young </a:t>
            </a:r>
            <a:r>
              <a:rPr lang="pt-BR" dirty="0" err="1"/>
              <a:t>Hongwei</a:t>
            </a:r>
            <a:r>
              <a:rPr lang="pt-BR" noProof="0" dirty="0"/>
              <a:t>, et al., “</a:t>
            </a:r>
            <a:r>
              <a:rPr lang="en-US" dirty="0"/>
              <a:t>Gradient Centralization: A New Optimization Technique for Deep Neural Networks</a:t>
            </a:r>
            <a:r>
              <a:rPr lang="pt-BR" noProof="0" dirty="0"/>
              <a:t>”,</a:t>
            </a:r>
            <a:r>
              <a:rPr lang="pt-BR" dirty="0"/>
              <a:t> </a:t>
            </a:r>
            <a:r>
              <a:rPr lang="pt-BR" dirty="0">
                <a:hlinkClick r:id="rId2"/>
              </a:rPr>
              <a:t>https://arxiv.org/pdf/2004.01461</a:t>
            </a:r>
            <a:r>
              <a:rPr lang="pt-BR" noProof="0" dirty="0"/>
              <a:t>.  </a:t>
            </a:r>
          </a:p>
          <a:p>
            <a:r>
              <a:rPr lang="pt-BR" noProof="0" dirty="0"/>
              <a:t>Repositório do GitHub: </a:t>
            </a:r>
            <a:r>
              <a:rPr lang="pt-BR" dirty="0">
                <a:hlinkClick r:id="rId3"/>
              </a:rPr>
              <a:t>https://github.com/Yonghongwei/Gradient-Centralization</a:t>
            </a:r>
            <a:r>
              <a:rPr lang="pt-BR" dirty="0"/>
              <a:t> 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C14F-D271-DAA8-8F79-8F4C5F29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A799F-DB31-5672-1F98-B6C0409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Links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BD496A-DE43-FD2E-39A4-9FEEA99F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0632" cy="4351338"/>
          </a:xfrm>
        </p:spPr>
        <p:txBody>
          <a:bodyPr/>
          <a:lstStyle/>
          <a:p>
            <a:r>
              <a:rPr lang="pt-BR" noProof="0" dirty="0"/>
              <a:t>GitHub: </a:t>
            </a:r>
            <a:r>
              <a:rPr lang="pt-BR" dirty="0">
                <a:hlinkClick r:id="rId2"/>
              </a:rPr>
              <a:t>https://github.com/Mish0404/TP558/tree/main/Seminario_Gradient_Centralization</a:t>
            </a:r>
            <a:r>
              <a:rPr lang="pt-BR" dirty="0"/>
              <a:t> </a:t>
            </a:r>
            <a:r>
              <a:rPr lang="pt-BR" noProof="0" dirty="0"/>
              <a:t> </a:t>
            </a:r>
          </a:p>
          <a:p>
            <a:r>
              <a:rPr lang="pt-BR" noProof="0" dirty="0"/>
              <a:t>Quiz: </a:t>
            </a:r>
            <a:r>
              <a:rPr lang="pt-BR" noProof="0" dirty="0" err="1">
                <a:hlinkClick r:id="rId3"/>
              </a:rPr>
              <a:t>Gradient</a:t>
            </a:r>
            <a:r>
              <a:rPr lang="pt-BR" noProof="0" dirty="0">
                <a:hlinkClick r:id="rId3"/>
              </a:rPr>
              <a:t> </a:t>
            </a:r>
            <a:r>
              <a:rPr lang="pt-BR" noProof="0" dirty="0" err="1">
                <a:hlinkClick r:id="rId3"/>
              </a:rPr>
              <a:t>Centralization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096843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noProof="0" dirty="0"/>
              <a:t>Obrigado!</a:t>
            </a:r>
            <a:endParaRPr lang="pt-BR" sz="6600" b="1" i="1" noProof="0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38348</TotalTime>
  <Words>6830</Words>
  <Application>Microsoft Office PowerPoint</Application>
  <PresentationFormat>Panorámica</PresentationFormat>
  <Paragraphs>712</Paragraphs>
  <Slides>50</Slides>
  <Notes>46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Courier New</vt:lpstr>
      <vt:lpstr>Tema do Office</vt:lpstr>
      <vt:lpstr>TP558 - Tópicos avançados em Machine Learning: Gradient Centralization</vt:lpstr>
      <vt:lpstr>Introdução</vt:lpstr>
      <vt:lpstr>Introdução</vt:lpstr>
      <vt:lpstr>Introdução</vt:lpstr>
      <vt:lpstr>Introdução</vt:lpstr>
      <vt:lpstr>Introdução</vt:lpstr>
      <vt:lpstr>Introdução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Fundamentação teórica</vt:lpstr>
      <vt:lpstr>Arquitetura e funcionamento</vt:lpstr>
      <vt:lpstr>Arquitetura e funcionamento</vt:lpstr>
      <vt:lpstr>Arquitetura e funcionamento</vt:lpstr>
      <vt:lpstr>Treinamento e otimização</vt:lpstr>
      <vt:lpstr>Treinamento e otimização</vt:lpstr>
      <vt:lpstr>Treinamento e otimização</vt:lpstr>
      <vt:lpstr>Vantagens e desvantagens</vt:lpstr>
      <vt:lpstr>Vantagens e desvantagens</vt:lpstr>
      <vt:lpstr>Vantagens e desvantagens</vt:lpstr>
      <vt:lpstr>Vantagens e desvantagens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Exemplo(s) de aplicação</vt:lpstr>
      <vt:lpstr>Comparação com outros algoritmos</vt:lpstr>
      <vt:lpstr>Comparação com outros algoritmos</vt:lpstr>
      <vt:lpstr>Comparação com outros algoritmos</vt:lpstr>
      <vt:lpstr>Comparação com outros algoritmos</vt:lpstr>
      <vt:lpstr>Presentación de PowerPoint</vt:lpstr>
      <vt:lpstr>Referências</vt:lpstr>
      <vt:lpstr>Links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Brithany Michelle Oliva Chuquimia</cp:lastModifiedBy>
  <cp:revision>1843</cp:revision>
  <dcterms:created xsi:type="dcterms:W3CDTF">2020-01-20T13:50:05Z</dcterms:created>
  <dcterms:modified xsi:type="dcterms:W3CDTF">2025-10-24T23:39:48Z</dcterms:modified>
</cp:coreProperties>
</file>